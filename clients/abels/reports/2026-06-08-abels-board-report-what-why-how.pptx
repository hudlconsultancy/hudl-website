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76200"/>
          </a:xfrm>
          <a:prstGeom prst="rect">
            <a:avLst/>
          </a:prstGeom>
          <a:solidFill>
            <a:srgbClr val="FBB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76200"/>
          </a:xfrm>
          <a:prstGeom prst="rect">
            <a:avLst/>
          </a:prstGeom>
          <a:solidFill>
            <a:srgbClr val="45A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3047923" cy="76200"/>
          </a:xfrm>
          <a:prstGeom prst="rect">
            <a:avLst/>
          </a:prstGeom>
          <a:solidFill>
            <a:srgbClr val="FF5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71" y="0"/>
            <a:ext cx="3047923" cy="76200"/>
          </a:xfrm>
          <a:prstGeom prst="rect">
            <a:avLst/>
          </a:prstGeom>
          <a:solidFill>
            <a:srgbClr val="1ED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286000"/>
            <a:ext cx="146304" cy="1828800"/>
          </a:xfrm>
          <a:prstGeom prst="rect">
            <a:avLst/>
          </a:prstGeom>
          <a:solidFill>
            <a:srgbClr val="FBB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240280"/>
            <a:ext cx="100584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9A9A9A"/>
                </a:solidFill>
                <a:latin typeface="Arial"/>
              </a:rPr>
              <a:t>ABELS MOVING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97480"/>
            <a:ext cx="1051560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5000" b="1">
                <a:solidFill>
                  <a:srgbClr val="FFFFFF"/>
                </a:solidFill>
                <a:latin typeface="Arial Narrow"/>
              </a:rPr>
              <a:t>Performance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703320"/>
            <a:ext cx="105156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200" b="1">
                <a:solidFill>
                  <a:srgbClr val="FBBF46"/>
                </a:solidFill>
                <a:latin typeface="Arial Narrow"/>
              </a:rPr>
              <a:t>The What, Why &amp; How  ·  January–May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29768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9A9A9A"/>
                </a:solidFill>
                <a:latin typeface="Arial"/>
              </a:rPr>
              <a:t>Paid Search  ·  Website  ·  SEO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585216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9A9A9A"/>
                </a:solidFill>
                <a:latin typeface="Arial"/>
              </a:rPr>
              <a:t>Prepared for the board  ·  HUDL  ·  Internal — not for external distribution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76200"/>
          </a:xfrm>
          <a:prstGeom prst="rect">
            <a:avLst/>
          </a:prstGeom>
          <a:solidFill>
            <a:srgbClr val="FBB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76200"/>
          </a:xfrm>
          <a:prstGeom prst="rect">
            <a:avLst/>
          </a:prstGeom>
          <a:solidFill>
            <a:srgbClr val="45A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3047923" cy="76200"/>
          </a:xfrm>
          <a:prstGeom prst="rect">
            <a:avLst/>
          </a:prstGeom>
          <a:solidFill>
            <a:srgbClr val="FF5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71" y="0"/>
            <a:ext cx="3047923" cy="76200"/>
          </a:xfrm>
          <a:prstGeom prst="rect">
            <a:avLst/>
          </a:prstGeom>
          <a:solidFill>
            <a:srgbClr val="1ED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384048"/>
            <a:ext cx="109728" cy="566928"/>
          </a:xfrm>
          <a:prstGeom prst="rect">
            <a:avLst/>
          </a:prstGeom>
          <a:solidFill>
            <a:srgbClr val="FBB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365760"/>
            <a:ext cx="10058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FBBF46"/>
                </a:solidFill>
                <a:latin typeface="Arial"/>
              </a:rPr>
              <a:t>AT A GLANCE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03504"/>
            <a:ext cx="1078992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rial Narrow"/>
              </a:rPr>
              <a:t>Three channels, one picture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463040"/>
          <a:ext cx="11274551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02773"/>
                <a:gridCol w="5729690"/>
                <a:gridCol w="3142088"/>
              </a:tblGrid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5AE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88900" marR="88900" marT="50800" marB="50800" anchor="ctr">
                    <a:solidFill>
                      <a:srgbClr val="0A1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5AEFF"/>
                          </a:solidFill>
                          <a:latin typeface="Arial"/>
                        </a:rPr>
                        <a:t>The number that matters</a:t>
                      </a:r>
                    </a:p>
                  </a:txBody>
                  <a:tcPr marL="88900" marR="88900" marT="50800" marB="50800" anchor="ctr">
                    <a:solidFill>
                      <a:srgbClr val="0A1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5AEFF"/>
                          </a:solidFill>
                          <a:latin typeface="Arial"/>
                        </a:rPr>
                        <a:t>Trend</a:t>
                      </a:r>
                    </a:p>
                  </a:txBody>
                  <a:tcPr marL="88900" marR="88900" marT="50800" marB="50800" anchor="ctr">
                    <a:solidFill>
                      <a:srgbClr val="0A1A2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BBF46"/>
                          </a:solidFill>
                          <a:latin typeface="Arial"/>
                        </a:rPr>
                        <a:t>Paid Search (PPC)</a:t>
                      </a:r>
                    </a:p>
                  </a:txBody>
                  <a:tcPr marL="88900" marR="88900" marT="38100" marB="381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Arial"/>
                        </a:rPr>
                        <a:t>£23,375 spend  →  136 enquiries  at  £172 each</a:t>
                      </a:r>
                    </a:p>
                  </a:txBody>
                  <a:tcPr marL="88900" marR="88900" marT="38100" marB="381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Arial"/>
                        </a:rPr>
                        <a:t>Settled to ~£160/lead in Apr–May</a:t>
                      </a:r>
                    </a:p>
                  </a:txBody>
                  <a:tcPr marL="88900" marR="88900" marT="38100" marB="38100" anchor="ctr">
                    <a:solidFill>
                      <a:srgbClr val="0F0F12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5AEFF"/>
                          </a:solidFill>
                          <a:latin typeface="Arial"/>
                        </a:rPr>
                        <a:t>Website (GA4)</a:t>
                      </a:r>
                    </a:p>
                  </a:txBody>
                  <a:tcPr marL="88900" marR="88900" marT="38100" marB="38100"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Arial"/>
                        </a:rPr>
                        <a:t>15,341 visits (Jan–May)</a:t>
                      </a:r>
                    </a:p>
                  </a:txBody>
                  <a:tcPr marL="88900" marR="88900" marT="38100" marB="38100"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Arial"/>
                        </a:rPr>
                        <a:t>Eased from Jan; engagement up</a:t>
                      </a:r>
                    </a:p>
                  </a:txBody>
                  <a:tcPr marL="88900" marR="88900" marT="38100" marB="38100" anchor="ctr">
                    <a:solidFill>
                      <a:srgbClr val="0C0C0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DFD4"/>
                          </a:solidFill>
                          <a:latin typeface="Arial"/>
                        </a:rPr>
                        <a:t>SEO (organic)</a:t>
                      </a:r>
                    </a:p>
                  </a:txBody>
                  <a:tcPr marL="88900" marR="88900" marT="38100" marB="381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Arial"/>
                        </a:rPr>
                        <a:t>4,368 clicks from 1.24m search appearances</a:t>
                      </a:r>
                    </a:p>
                  </a:txBody>
                  <a:tcPr marL="88900" marR="88900" marT="38100" marB="381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Arial"/>
                        </a:rPr>
                        <a:t>Stable but flat; brand-dependent</a:t>
                      </a:r>
                    </a:p>
                  </a:txBody>
                  <a:tcPr marL="88900" marR="88900" marT="38100" marB="38100" anchor="ctr">
                    <a:solidFill>
                      <a:srgbClr val="0F0F12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3749039"/>
            <a:ext cx="11274552" cy="2194560"/>
          </a:xfrm>
          <a:prstGeom prst="rect">
            <a:avLst/>
          </a:prstGeom>
          <a:solidFill>
            <a:srgbClr val="0F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749039"/>
            <a:ext cx="91440" cy="2194560"/>
          </a:xfrm>
          <a:prstGeom prst="rect">
            <a:avLst/>
          </a:prstGeom>
          <a:solidFill>
            <a:srgbClr val="FBB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105156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FBBF46"/>
                </a:solidFill>
                <a:latin typeface="Arial"/>
              </a:rPr>
              <a:t>THE ONE-LINE 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43400"/>
            <a:ext cx="1060704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Paid Search was rebuilt in spring and is now running efficiently — about £160 per genuine enquiry.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The website is quieter than January, but the people on it are more engaged.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Organic search has huge visibility but isn't yet converting it — and the opportunity is clearly named in this pack.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55664"/>
            <a:ext cx="91440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00" b="0">
                <a:solidFill>
                  <a:srgbClr val="9A9A9A"/>
                </a:solidFill>
                <a:latin typeface="Arial"/>
              </a:rPr>
              <a:t>Abels Moving Services  ·  Jan–May 2026  ·  Internal — not for external distribution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0" y="6455664"/>
            <a:ext cx="4572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800" b="0">
                <a:solidFill>
                  <a:srgbClr val="9A9A9A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76200"/>
          </a:xfrm>
          <a:prstGeom prst="rect">
            <a:avLst/>
          </a:prstGeom>
          <a:solidFill>
            <a:srgbClr val="FBB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76200"/>
          </a:xfrm>
          <a:prstGeom prst="rect">
            <a:avLst/>
          </a:prstGeom>
          <a:solidFill>
            <a:srgbClr val="45A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3047923" cy="76200"/>
          </a:xfrm>
          <a:prstGeom prst="rect">
            <a:avLst/>
          </a:prstGeom>
          <a:solidFill>
            <a:srgbClr val="FF5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71" y="0"/>
            <a:ext cx="3047923" cy="76200"/>
          </a:xfrm>
          <a:prstGeom prst="rect">
            <a:avLst/>
          </a:prstGeom>
          <a:solidFill>
            <a:srgbClr val="1ED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384048"/>
            <a:ext cx="109728" cy="566928"/>
          </a:xfrm>
          <a:prstGeom prst="rect">
            <a:avLst/>
          </a:prstGeom>
          <a:solidFill>
            <a:srgbClr val="FBB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365760"/>
            <a:ext cx="10058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FBBF46"/>
                </a:solidFill>
                <a:latin typeface="Arial"/>
              </a:rPr>
              <a:t>1 · PAID SEARCH (PPC)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03504"/>
            <a:ext cx="1078992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rial Narrow"/>
              </a:rPr>
              <a:t>Rebuilt, and now efficient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11274552" cy="640080"/>
          </a:xfrm>
          <a:prstGeom prst="rect">
            <a:avLst/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73152" cy="640080"/>
          </a:xfrm>
          <a:prstGeom prst="rect">
            <a:avLst/>
          </a:prstGeom>
          <a:solidFill>
            <a:srgbClr val="FBB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25880"/>
            <a:ext cx="1097280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£23,375 spent     ·     136 enquiries     ·     £172 average cost per enquiry     ·     1.9× return on spend (Apr–May)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40280"/>
            <a:ext cx="3602736" cy="3200400"/>
          </a:xfrm>
          <a:prstGeom prst="rect">
            <a:avLst/>
          </a:prstGeom>
          <a:solidFill>
            <a:srgbClr val="0F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240280"/>
            <a:ext cx="3602736" cy="457200"/>
          </a:xfrm>
          <a:prstGeom prst="rect">
            <a:avLst/>
          </a:prstGeom>
          <a:solidFill>
            <a:srgbClr val="FBB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240280"/>
            <a:ext cx="3602736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50" b="1">
                <a:solidFill>
                  <a:srgbClr val="0C0C0C"/>
                </a:solidFill>
                <a:latin typeface="Arial"/>
              </a:rPr>
              <a:t>WHAT WE DID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2807208"/>
            <a:ext cx="3450336" cy="2560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Rebuilt the Google Ads account in March around four clear campaigns (Europe, London, Domestic, International), switched off Performance Max, and brought management in-house during the JDR review.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3108" y="2240280"/>
            <a:ext cx="3602736" cy="3200400"/>
          </a:xfrm>
          <a:prstGeom prst="rect">
            <a:avLst/>
          </a:prstGeom>
          <a:solidFill>
            <a:srgbClr val="0F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3108" y="2240280"/>
            <a:ext cx="3602736" cy="457200"/>
          </a:xfrm>
          <a:prstGeom prst="rect">
            <a:avLst/>
          </a:prstGeom>
          <a:solidFill>
            <a:srgbClr val="45A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3108" y="2240280"/>
            <a:ext cx="3602736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50" b="1">
                <a:solidFill>
                  <a:srgbClr val="0C0C0C"/>
                </a:solidFill>
                <a:latin typeface="Arial"/>
              </a:rPr>
              <a:t>WHY WE DID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9308" y="2807208"/>
            <a:ext cx="3450336" cy="2560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Performance Max had spent £1,010 over Jan–Feb for ZERO enquiries. The old setup also counted soft actions (page views, phone clicks) as conversions, which flattered the numbers. We wanted real enquiries, properly measured.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9016" y="2240280"/>
            <a:ext cx="3602736" cy="3200400"/>
          </a:xfrm>
          <a:prstGeom prst="rect">
            <a:avLst/>
          </a:prstGeom>
          <a:solidFill>
            <a:srgbClr val="0F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29016" y="2240280"/>
            <a:ext cx="3602736" cy="457200"/>
          </a:xfrm>
          <a:prstGeom prst="rect">
            <a:avLst/>
          </a:prstGeom>
          <a:solidFill>
            <a:srgbClr val="1ED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29016" y="2240280"/>
            <a:ext cx="3602736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50" b="1">
                <a:solidFill>
                  <a:srgbClr val="0C0C0C"/>
                </a:solidFill>
                <a:latin typeface="Arial"/>
              </a:rPr>
              <a:t>HOW IT'S GOING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5216" y="2807208"/>
            <a:ext cx="3450336" cy="2560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April &amp; May are the true picture: ~£6k a month, ~37 enquiries, ~£160 each. Europe and London are strongest (£110–138) with room to grow; Domestic is dearest but improving (£436 → £199 in May).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623560"/>
            <a:ext cx="11274552" cy="566928"/>
          </a:xfrm>
          <a:prstGeom prst="rect">
            <a:avLst/>
          </a:prstGeom>
          <a:solidFill>
            <a:srgbClr val="0C0C0C"/>
          </a:solidFill>
          <a:ln w="15875">
            <a:solidFill>
              <a:srgbClr val="FBB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623560"/>
            <a:ext cx="10058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FBBF46"/>
                </a:solidFill>
                <a:latin typeface="Arial"/>
              </a:rPr>
              <a:t>NEXT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623560"/>
            <a:ext cx="100584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Move more budget into Europe &amp; London; keep tightening Domestic.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55664"/>
            <a:ext cx="91440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00" b="0">
                <a:solidFill>
                  <a:srgbClr val="9A9A9A"/>
                </a:solidFill>
                <a:latin typeface="Arial"/>
              </a:rPr>
              <a:t>Abels Moving Services  ·  Jan–May 2026  ·  Internal — not for external distribution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1440" y="6455664"/>
            <a:ext cx="4572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800" b="0">
                <a:solidFill>
                  <a:srgbClr val="9A9A9A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76200"/>
          </a:xfrm>
          <a:prstGeom prst="rect">
            <a:avLst/>
          </a:prstGeom>
          <a:solidFill>
            <a:srgbClr val="FBB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76200"/>
          </a:xfrm>
          <a:prstGeom prst="rect">
            <a:avLst/>
          </a:prstGeom>
          <a:solidFill>
            <a:srgbClr val="45A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3047923" cy="76200"/>
          </a:xfrm>
          <a:prstGeom prst="rect">
            <a:avLst/>
          </a:prstGeom>
          <a:solidFill>
            <a:srgbClr val="FF5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71" y="0"/>
            <a:ext cx="3047923" cy="76200"/>
          </a:xfrm>
          <a:prstGeom prst="rect">
            <a:avLst/>
          </a:prstGeom>
          <a:solidFill>
            <a:srgbClr val="1ED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384048"/>
            <a:ext cx="109728" cy="566928"/>
          </a:xfrm>
          <a:prstGeom prst="rect">
            <a:avLst/>
          </a:prstGeom>
          <a:solidFill>
            <a:srgbClr val="45A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365760"/>
            <a:ext cx="10058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45AEFF"/>
                </a:solidFill>
                <a:latin typeface="Arial"/>
              </a:rPr>
              <a:t>2 · WEBSITE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03504"/>
            <a:ext cx="1078992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rial Narrow"/>
              </a:rPr>
              <a:t>Quieter, but more engaged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11274552" cy="640080"/>
          </a:xfrm>
          <a:prstGeom prst="rect">
            <a:avLst/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73152" cy="640080"/>
          </a:xfrm>
          <a:prstGeom prst="rect">
            <a:avLst/>
          </a:prstGeom>
          <a:solidFill>
            <a:srgbClr val="45A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25880"/>
            <a:ext cx="1097280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15,341 visits     ·     12,061 new visitors     ·     ~44s average engagement     ·     best engagement of the period in May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40280"/>
            <a:ext cx="3602736" cy="3200400"/>
          </a:xfrm>
          <a:prstGeom prst="rect">
            <a:avLst/>
          </a:prstGeom>
          <a:solidFill>
            <a:srgbClr val="0F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240280"/>
            <a:ext cx="3602736" cy="457200"/>
          </a:xfrm>
          <a:prstGeom prst="rect">
            <a:avLst/>
          </a:prstGeom>
          <a:solidFill>
            <a:srgbClr val="45A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240280"/>
            <a:ext cx="3602736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50" b="1">
                <a:solidFill>
                  <a:srgbClr val="0C0C0C"/>
                </a:solidFill>
                <a:latin typeface="Arial"/>
              </a:rPr>
              <a:t>WHAT WE DID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2807208"/>
            <a:ext cx="3450336" cy="2560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Tracked website traffic and engagement month by month, alongside the paid and organic activity, so spend connects to on-site behaviour.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3108" y="2240280"/>
            <a:ext cx="3602736" cy="3200400"/>
          </a:xfrm>
          <a:prstGeom prst="rect">
            <a:avLst/>
          </a:prstGeom>
          <a:solidFill>
            <a:srgbClr val="0F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3108" y="2240280"/>
            <a:ext cx="3602736" cy="457200"/>
          </a:xfrm>
          <a:prstGeom prst="rect">
            <a:avLst/>
          </a:prstGeom>
          <a:solidFill>
            <a:srgbClr val="45A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3108" y="2240280"/>
            <a:ext cx="3602736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50" b="1">
                <a:solidFill>
                  <a:srgbClr val="0C0C0C"/>
                </a:solidFill>
                <a:latin typeface="Arial"/>
              </a:rPr>
              <a:t>WHY WE DID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9308" y="2807208"/>
            <a:ext cx="3450336" cy="2560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The website is where every enquiry is made — its traffic and engagement are the bridge between marketing spend and actual leads.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9016" y="2240280"/>
            <a:ext cx="3602736" cy="3200400"/>
          </a:xfrm>
          <a:prstGeom prst="rect">
            <a:avLst/>
          </a:prstGeom>
          <a:solidFill>
            <a:srgbClr val="0F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29016" y="2240280"/>
            <a:ext cx="3602736" cy="457200"/>
          </a:xfrm>
          <a:prstGeom prst="rect">
            <a:avLst/>
          </a:prstGeom>
          <a:solidFill>
            <a:srgbClr val="1ED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29016" y="2240280"/>
            <a:ext cx="3602736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50" b="1">
                <a:solidFill>
                  <a:srgbClr val="0C0C0C"/>
                </a:solidFill>
                <a:latin typeface="Arial"/>
              </a:rPr>
              <a:t>HOW IT'S GOING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5216" y="2807208"/>
            <a:ext cx="3450336" cy="2560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Traffic eased from a January peak (~3,900 visits) to a steady ~2,600–2,850 a month — expected, as we stopped buying low-intent PMAX traffic. Crucially, engagement HELD and hit its best level in May.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623560"/>
            <a:ext cx="11274552" cy="566928"/>
          </a:xfrm>
          <a:prstGeom prst="rect">
            <a:avLst/>
          </a:prstGeom>
          <a:solidFill>
            <a:srgbClr val="0C0C0C"/>
          </a:solidFill>
          <a:ln w="15875">
            <a:solidFill>
              <a:srgbClr val="45A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623560"/>
            <a:ext cx="10058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45AEFF"/>
                </a:solidFill>
                <a:latin typeface="Arial"/>
              </a:rPr>
              <a:t>NEXT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623560"/>
            <a:ext cx="100584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Confirm which on-site actions we count as enquiries; supply a channel-split export (paid vs organic vs direct).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55664"/>
            <a:ext cx="91440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00" b="0">
                <a:solidFill>
                  <a:srgbClr val="9A9A9A"/>
                </a:solidFill>
                <a:latin typeface="Arial"/>
              </a:rPr>
              <a:t>Abels Moving Services  ·  Jan–May 2026  ·  Internal — not for external distribution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1440" y="6455664"/>
            <a:ext cx="4572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800" b="0">
                <a:solidFill>
                  <a:srgbClr val="9A9A9A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76200"/>
          </a:xfrm>
          <a:prstGeom prst="rect">
            <a:avLst/>
          </a:prstGeom>
          <a:solidFill>
            <a:srgbClr val="FBB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76200"/>
          </a:xfrm>
          <a:prstGeom prst="rect">
            <a:avLst/>
          </a:prstGeom>
          <a:solidFill>
            <a:srgbClr val="45A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3047923" cy="76200"/>
          </a:xfrm>
          <a:prstGeom prst="rect">
            <a:avLst/>
          </a:prstGeom>
          <a:solidFill>
            <a:srgbClr val="FF5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71" y="0"/>
            <a:ext cx="3047923" cy="76200"/>
          </a:xfrm>
          <a:prstGeom prst="rect">
            <a:avLst/>
          </a:prstGeom>
          <a:solidFill>
            <a:srgbClr val="1ED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384048"/>
            <a:ext cx="109728" cy="566928"/>
          </a:xfrm>
          <a:prstGeom prst="rect">
            <a:avLst/>
          </a:prstGeom>
          <a:solidFill>
            <a:srgbClr val="1ED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365760"/>
            <a:ext cx="10058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1EDFD4"/>
                </a:solidFill>
                <a:latin typeface="Arial"/>
              </a:rPr>
              <a:t>3 · SEO (ORGANIC SEARCH)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03504"/>
            <a:ext cx="1078992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rial Narrow"/>
              </a:rPr>
              <a:t>Huge visibility, not yet converted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11274552" cy="640080"/>
          </a:xfrm>
          <a:prstGeom prst="rect">
            <a:avLst/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73152" cy="640080"/>
          </a:xfrm>
          <a:prstGeom prst="rect">
            <a:avLst/>
          </a:prstGeom>
          <a:solidFill>
            <a:srgbClr val="1ED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25880"/>
            <a:ext cx="1097280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4,368 clicks     ·     1,242,569 appearances in Google     ·     0.35% click rate     ·     average position ~25 (page 2–3)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40280"/>
            <a:ext cx="3602736" cy="3200400"/>
          </a:xfrm>
          <a:prstGeom prst="rect">
            <a:avLst/>
          </a:prstGeom>
          <a:solidFill>
            <a:srgbClr val="0F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240280"/>
            <a:ext cx="3602736" cy="457200"/>
          </a:xfrm>
          <a:prstGeom prst="rect">
            <a:avLst/>
          </a:prstGeom>
          <a:solidFill>
            <a:srgbClr val="1ED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240280"/>
            <a:ext cx="3602736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50" b="1">
                <a:solidFill>
                  <a:srgbClr val="0C0C0C"/>
                </a:solidFill>
                <a:latin typeface="Arial"/>
              </a:rPr>
              <a:t>WHAT WE DID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2807208"/>
            <a:ext cx="3450336" cy="2560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Abels appears in Google an enormous amount (1.24m times in five months) but earns relatively few clicks — because most pages rank on page 2–3, not page 1.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3108" y="2240280"/>
            <a:ext cx="3602736" cy="3200400"/>
          </a:xfrm>
          <a:prstGeom prst="rect">
            <a:avLst/>
          </a:prstGeom>
          <a:solidFill>
            <a:srgbClr val="0F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3108" y="2240280"/>
            <a:ext cx="3602736" cy="457200"/>
          </a:xfrm>
          <a:prstGeom prst="rect">
            <a:avLst/>
          </a:prstGeom>
          <a:solidFill>
            <a:srgbClr val="45A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3108" y="2240280"/>
            <a:ext cx="3602736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50" b="1">
                <a:solidFill>
                  <a:srgbClr val="0C0C0C"/>
                </a:solidFill>
                <a:latin typeface="Arial"/>
              </a:rPr>
              <a:t>WHY WE DID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9308" y="2807208"/>
            <a:ext cx="3450336" cy="2560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The demand is already there. The big commercial pages (international removals, London removals, London storage) hold 27% of all our search visibility but rank page 3–5. Today 42% of organic clicks are just the homepage — people already searching 'Abels' by name.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9016" y="2240280"/>
            <a:ext cx="3602736" cy="3200400"/>
          </a:xfrm>
          <a:prstGeom prst="rect">
            <a:avLst/>
          </a:prstGeom>
          <a:solidFill>
            <a:srgbClr val="0F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29016" y="2240280"/>
            <a:ext cx="3602736" cy="457200"/>
          </a:xfrm>
          <a:prstGeom prst="rect">
            <a:avLst/>
          </a:prstGeom>
          <a:solidFill>
            <a:srgbClr val="1ED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29016" y="2240280"/>
            <a:ext cx="3602736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50" b="1">
                <a:solidFill>
                  <a:srgbClr val="0C0C0C"/>
                </a:solidFill>
                <a:latin typeface="Arial"/>
              </a:rPr>
              <a:t>HOW IT'S GOING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5216" y="2807208"/>
            <a:ext cx="3450336" cy="2560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Focus SEO on lifting those high-visibility commercial pages from page 3–5 onto page 1–2. The demand is proven; the rankings are the gap. Our guides and the Royal Warrant page already rank well and support credibility.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623560"/>
            <a:ext cx="11274552" cy="566928"/>
          </a:xfrm>
          <a:prstGeom prst="rect">
            <a:avLst/>
          </a:prstGeom>
          <a:solidFill>
            <a:srgbClr val="0C0C0C"/>
          </a:solidFill>
          <a:ln w="15875">
            <a:solidFill>
              <a:srgbClr val="1E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623560"/>
            <a:ext cx="10058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1EDFD4"/>
                </a:solidFill>
                <a:latin typeface="Arial"/>
              </a:rPr>
              <a:t>NEXT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623560"/>
            <a:ext cx="100584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A focused SEO push on the London / international / storage pages — the biggest single opportunity.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55664"/>
            <a:ext cx="91440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00" b="0">
                <a:solidFill>
                  <a:srgbClr val="9A9A9A"/>
                </a:solidFill>
                <a:latin typeface="Arial"/>
              </a:rPr>
              <a:t>Abels Moving Services  ·  Jan–May 2026  ·  Internal — not for external distribution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1440" y="6455664"/>
            <a:ext cx="4572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800" b="0">
                <a:solidFill>
                  <a:srgbClr val="9A9A9A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76200"/>
          </a:xfrm>
          <a:prstGeom prst="rect">
            <a:avLst/>
          </a:prstGeom>
          <a:solidFill>
            <a:srgbClr val="FBB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76200"/>
          </a:xfrm>
          <a:prstGeom prst="rect">
            <a:avLst/>
          </a:prstGeom>
          <a:solidFill>
            <a:srgbClr val="45A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3047923" cy="76200"/>
          </a:xfrm>
          <a:prstGeom prst="rect">
            <a:avLst/>
          </a:prstGeom>
          <a:solidFill>
            <a:srgbClr val="FF5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71" y="0"/>
            <a:ext cx="3047923" cy="76200"/>
          </a:xfrm>
          <a:prstGeom prst="rect">
            <a:avLst/>
          </a:prstGeom>
          <a:solidFill>
            <a:srgbClr val="1ED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384048"/>
            <a:ext cx="109728" cy="566928"/>
          </a:xfrm>
          <a:prstGeom prst="rect">
            <a:avLst/>
          </a:prstGeom>
          <a:solidFill>
            <a:srgbClr val="FBB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365760"/>
            <a:ext cx="10058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FBBF46"/>
                </a:solidFill>
                <a:latin typeface="Arial"/>
              </a:rPr>
              <a:t>INITIATIVES EXECUTED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03504"/>
            <a:ext cx="1078992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rial Narrow"/>
              </a:rPr>
              <a:t>What we did, why, and where it stands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463040"/>
          <a:ext cx="11274549" cy="420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8227"/>
                <a:gridCol w="3391531"/>
                <a:gridCol w="3208205"/>
                <a:gridCol w="2016586"/>
              </a:tblGrid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5AEFF"/>
                          </a:solidFill>
                          <a:latin typeface="Arial"/>
                        </a:rPr>
                        <a:t>Initiative</a:t>
                      </a:r>
                    </a:p>
                  </a:txBody>
                  <a:tcPr marL="88900" marR="88900" marT="50800" marB="50800" anchor="ctr">
                    <a:solidFill>
                      <a:srgbClr val="0A1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5AEFF"/>
                          </a:solidFill>
                          <a:latin typeface="Arial"/>
                        </a:rPr>
                        <a:t>What</a:t>
                      </a:r>
                    </a:p>
                  </a:txBody>
                  <a:tcPr marL="88900" marR="88900" marT="50800" marB="50800" anchor="ctr">
                    <a:solidFill>
                      <a:srgbClr val="0A1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5AEFF"/>
                          </a:solidFill>
                          <a:latin typeface="Arial"/>
                        </a:rPr>
                        <a:t>Why</a:t>
                      </a:r>
                    </a:p>
                  </a:txBody>
                  <a:tcPr marL="88900" marR="88900" marT="50800" marB="50800" anchor="ctr">
                    <a:solidFill>
                      <a:srgbClr val="0A1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5AE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88900" marR="88900" marT="50800" marB="50800" anchor="ctr">
                    <a:solidFill>
                      <a:srgbClr val="0A1A2A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Paused Performance Max</a:t>
                      </a:r>
                    </a:p>
                  </a:txBody>
                  <a:tcPr marL="88900" marR="88900" marT="38100" marB="381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Switched PMAX off in March</a:t>
                      </a:r>
                    </a:p>
                  </a:txBody>
                  <a:tcPr marL="88900" marR="88900" marT="38100" marB="381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£1,010 spent, 0 enquiries</a:t>
                      </a:r>
                    </a:p>
                  </a:txBody>
                  <a:tcPr marL="88900" marR="88900" marT="38100" marB="381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C55E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88900" marR="88900" marT="38100" marB="38100" anchor="ctr">
                    <a:solidFill>
                      <a:srgbClr val="0F0F12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Rebuilt the Search account</a:t>
                      </a:r>
                    </a:p>
                  </a:txBody>
                  <a:tcPr marL="88900" marR="88900" marT="38100" marB="38100"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Four clear campaigns from March</a:t>
                      </a:r>
                    </a:p>
                  </a:txBody>
                  <a:tcPr marL="88900" marR="88900" marT="38100" marB="38100"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Control + real enquiry tracking</a:t>
                      </a:r>
                    </a:p>
                  </a:txBody>
                  <a:tcPr marL="88900" marR="88900" marT="38100" marB="38100"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C55E"/>
                          </a:solidFill>
                          <a:latin typeface="Arial"/>
                        </a:rPr>
                        <a:t>Done — CPA ~£160</a:t>
                      </a:r>
                    </a:p>
                  </a:txBody>
                  <a:tcPr marL="88900" marR="88900" marT="38100" marB="38100" anchor="ctr">
                    <a:solidFill>
                      <a:srgbClr val="0C0C0C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Fixed conversion tracking</a:t>
                      </a:r>
                    </a:p>
                  </a:txBody>
                  <a:tcPr marL="88900" marR="88900" marT="38100" marB="381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Count genuine enquiries, not soft clicks</a:t>
                      </a:r>
                    </a:p>
                  </a:txBody>
                  <a:tcPr marL="88900" marR="88900" marT="38100" marB="381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Honest, decision-grade numbers</a:t>
                      </a:r>
                    </a:p>
                  </a:txBody>
                  <a:tcPr marL="88900" marR="88900" marT="38100" marB="381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C55E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88900" marR="88900" marT="38100" marB="38100" anchor="ctr">
                    <a:solidFill>
                      <a:srgbClr val="0F0F12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Budget reallocation</a:t>
                      </a:r>
                    </a:p>
                  </a:txBody>
                  <a:tcPr marL="88900" marR="88900" marT="38100" marB="38100"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Move spend to Europe &amp; London</a:t>
                      </a:r>
                    </a:p>
                  </a:txBody>
                  <a:tcPr marL="88900" marR="88900" marT="38100" marB="38100"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They deliver the cheapest enquiries</a:t>
                      </a:r>
                    </a:p>
                  </a:txBody>
                  <a:tcPr marL="88900" marR="88900" marT="38100" marB="38100"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59E0B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88900" marR="88900" marT="38100" marB="38100" anchor="ctr">
                    <a:solidFill>
                      <a:srgbClr val="0C0C0C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Domestic clean-up</a:t>
                      </a:r>
                    </a:p>
                  </a:txBody>
                  <a:tcPr marL="88900" marR="88900" marT="38100" marB="381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Tighten the most expensive campaign</a:t>
                      </a:r>
                    </a:p>
                  </a:txBody>
                  <a:tcPr marL="88900" marR="88900" marT="38100" marB="381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CPA was £200–436</a:t>
                      </a:r>
                    </a:p>
                  </a:txBody>
                  <a:tcPr marL="88900" marR="88900" marT="38100" marB="381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59E0B"/>
                          </a:solidFill>
                          <a:latin typeface="Arial"/>
                        </a:rPr>
                        <a:t>In progress — May £199</a:t>
                      </a:r>
                    </a:p>
                  </a:txBody>
                  <a:tcPr marL="88900" marR="88900" marT="38100" marB="38100" anchor="ctr">
                    <a:solidFill>
                      <a:srgbClr val="0F0F12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SEO opportunity identified</a:t>
                      </a:r>
                    </a:p>
                  </a:txBody>
                  <a:tcPr marL="88900" marR="88900" marT="38100" marB="38100"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Lift commercial pages off page 3–5</a:t>
                      </a:r>
                    </a:p>
                  </a:txBody>
                  <a:tcPr marL="88900" marR="88900" marT="38100" marB="38100"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27% of visibility, almost no clicks</a:t>
                      </a:r>
                    </a:p>
                  </a:txBody>
                  <a:tcPr marL="88900" marR="88900" marT="38100" marB="38100"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DFD4"/>
                          </a:solidFill>
                          <a:latin typeface="Arial"/>
                        </a:rPr>
                        <a:t>Next priority</a:t>
                      </a:r>
                    </a:p>
                  </a:txBody>
                  <a:tcPr marL="88900" marR="88900" marT="38100" marB="38100" anchor="ctr">
                    <a:solidFill>
                      <a:srgbClr val="0C0C0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6455664"/>
            <a:ext cx="91440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00" b="0">
                <a:solidFill>
                  <a:srgbClr val="9A9A9A"/>
                </a:solidFill>
                <a:latin typeface="Arial"/>
              </a:rPr>
              <a:t>Abels Moving Services  ·  Jan–May 2026  ·  Internal — not for external distribution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455664"/>
            <a:ext cx="4572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800" b="0">
                <a:solidFill>
                  <a:srgbClr val="9A9A9A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76200"/>
          </a:xfrm>
          <a:prstGeom prst="rect">
            <a:avLst/>
          </a:prstGeom>
          <a:solidFill>
            <a:srgbClr val="FBB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76200"/>
          </a:xfrm>
          <a:prstGeom prst="rect">
            <a:avLst/>
          </a:prstGeom>
          <a:solidFill>
            <a:srgbClr val="45A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3047923" cy="76200"/>
          </a:xfrm>
          <a:prstGeom prst="rect">
            <a:avLst/>
          </a:prstGeom>
          <a:solidFill>
            <a:srgbClr val="FF5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71" y="0"/>
            <a:ext cx="3047923" cy="76200"/>
          </a:xfrm>
          <a:prstGeom prst="rect">
            <a:avLst/>
          </a:prstGeom>
          <a:solidFill>
            <a:srgbClr val="1ED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384048"/>
            <a:ext cx="109728" cy="566928"/>
          </a:xfrm>
          <a:prstGeom prst="rect">
            <a:avLst/>
          </a:prstGeom>
          <a:solidFill>
            <a:srgbClr val="FBB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365760"/>
            <a:ext cx="10058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FBBF46"/>
                </a:solidFill>
                <a:latin typeface="Arial"/>
              </a:rPr>
              <a:t>FOR THE 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03504"/>
            <a:ext cx="1078992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rial Narrow"/>
              </a:rPr>
              <a:t>Three things to note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11274552" cy="1325880"/>
          </a:xfrm>
          <a:prstGeom prst="rect">
            <a:avLst/>
          </a:prstGeom>
          <a:solidFill>
            <a:srgbClr val="0F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00200"/>
            <a:ext cx="109728" cy="1325880"/>
          </a:xfrm>
          <a:prstGeom prst="rect">
            <a:avLst/>
          </a:prstGeom>
          <a:solidFill>
            <a:srgbClr val="FBB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00200"/>
            <a:ext cx="914400" cy="13258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4000" b="1">
                <a:solidFill>
                  <a:srgbClr val="FBBF46"/>
                </a:solidFill>
                <a:latin typeface="Arial Narrow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1801368"/>
            <a:ext cx="978408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 Narrow"/>
              </a:rPr>
              <a:t>Paid Search is now efficient and honestly measured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313432"/>
            <a:ext cx="978408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>
                <a:solidFill>
                  <a:srgbClr val="9A9A9A"/>
                </a:solidFill>
                <a:latin typeface="Arial"/>
              </a:rPr>
              <a:t>~£160 per genuine enquiry, with the best campaigns still able to scale.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81528"/>
            <a:ext cx="11274552" cy="1325880"/>
          </a:xfrm>
          <a:prstGeom prst="rect">
            <a:avLst/>
          </a:prstGeom>
          <a:solidFill>
            <a:srgbClr val="0F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081528"/>
            <a:ext cx="109728" cy="1325880"/>
          </a:xfrm>
          <a:prstGeom prst="rect">
            <a:avLst/>
          </a:prstGeom>
          <a:solidFill>
            <a:srgbClr val="1ED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081528"/>
            <a:ext cx="914400" cy="13258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4000" b="1">
                <a:solidFill>
                  <a:srgbClr val="1EDFD4"/>
                </a:solidFill>
                <a:latin typeface="Arial Narrow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282696"/>
            <a:ext cx="978408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 Narrow"/>
              </a:rPr>
              <a:t>The clearest growth opportunity is SEO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794760"/>
            <a:ext cx="978408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>
                <a:solidFill>
                  <a:srgbClr val="9A9A9A"/>
                </a:solidFill>
                <a:latin typeface="Arial"/>
              </a:rPr>
              <a:t>The demand exists — we simply need to rank better on the commercial pages.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562856"/>
            <a:ext cx="11274552" cy="1325880"/>
          </a:xfrm>
          <a:prstGeom prst="rect">
            <a:avLst/>
          </a:prstGeom>
          <a:solidFill>
            <a:srgbClr val="0F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562856"/>
            <a:ext cx="109728" cy="1325880"/>
          </a:xfrm>
          <a:prstGeom prst="rect">
            <a:avLst/>
          </a:prstGeom>
          <a:solidFill>
            <a:srgbClr val="45A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562856"/>
            <a:ext cx="914400" cy="13258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4000" b="1">
                <a:solidFill>
                  <a:srgbClr val="45AEFF"/>
                </a:solidFill>
                <a:latin typeface="Arial Narrow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764024"/>
            <a:ext cx="978408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 Narrow"/>
              </a:rPr>
              <a:t>One quick win to re-enable: the Moveware → Google Ads link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5276088"/>
            <a:ext cx="978408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>
                <a:solidFill>
                  <a:srgbClr val="9A9A9A"/>
                </a:solidFill>
                <a:latin typeface="Arial"/>
              </a:rPr>
              <a:t>Active in 2025, off in 2026. Switching it back on lets Google optimise toward real booked revenue, not just form-fills.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55664"/>
            <a:ext cx="91440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00" b="0">
                <a:solidFill>
                  <a:srgbClr val="9A9A9A"/>
                </a:solidFill>
                <a:latin typeface="Arial"/>
              </a:rPr>
              <a:t>Abels Moving Services  ·  Jan–May 2026  ·  Internal — not for external distribution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0" y="6455664"/>
            <a:ext cx="4572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800" b="0">
                <a:solidFill>
                  <a:srgbClr val="9A9A9A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