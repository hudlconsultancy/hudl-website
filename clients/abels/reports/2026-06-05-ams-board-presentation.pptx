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6200"/>
          </a:xfrm>
          <a:prstGeom prst="rect">
            <a:avLst/>
          </a:prstGeom>
          <a:solidFill>
            <a:srgbClr val="FB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6200"/>
          </a:xfrm>
          <a:prstGeom prst="rect">
            <a:avLst/>
          </a:prstGeom>
          <a:solidFill>
            <a:srgbClr val="45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6200"/>
          </a:xfrm>
          <a:prstGeom prst="rect">
            <a:avLst/>
          </a:prstGeom>
          <a:solidFill>
            <a:srgbClr val="FF5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6200"/>
          </a:xfrm>
          <a:prstGeom prst="rect">
            <a:avLst/>
          </a:prstGeom>
          <a:solidFill>
            <a:srgbClr val="1E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BB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327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4400" b="1">
                <a:solidFill>
                  <a:srgbClr val="FBBF46"/>
                </a:solidFill>
                <a:latin typeface="Arial Narrow"/>
              </a:rPr>
              <a:t>ABELS MOVING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103327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Arial Narrow"/>
              </a:rPr>
              <a:t>Board Marketing Performance 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500" b="0">
                <a:solidFill>
                  <a:srgbClr val="1EDFD4"/>
                </a:solidFill>
                <a:latin typeface="Arial"/>
              </a:rPr>
              <a:t>May 2026   |   Jan–May Trend   |   YoY Comparison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3886200"/>
            <a:ext cx="3776472" cy="25400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9A9A9A"/>
                </a:solidFill>
                <a:latin typeface="Arial"/>
              </a:rPr>
              <a:t>Prepared by HUDL Consultancy — Woody, Fractional Marketing Director</a:t>
            </a:r>
          </a:p>
          <a:p>
            <a:pPr algn="ctr"/>
            <a:r>
              <a:rPr sz="1200" b="0">
                <a:solidFill>
                  <a:srgbClr val="9A9A9A"/>
                </a:solidFill>
                <a:latin typeface="Arial"/>
              </a:rPr>
              <a:t>Prepared for Neil Pertoldi (AGM Group GM) &amp; AGM Board</a:t>
            </a:r>
          </a:p>
          <a:p>
            <a:pPr algn="ctr"/>
            <a:r>
              <a:rPr sz="1200" b="0">
                <a:solidFill>
                  <a:srgbClr val="9A9A9A"/>
                </a:solidFill>
                <a:latin typeface="Arial"/>
              </a:rPr>
              <a:t>5 June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400800"/>
            <a:ext cx="1033272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  <a:latin typeface="Arial"/>
              </a:rPr>
              <a:t>CONFIDENTIAL — INTERNAL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6200"/>
          </a:xfrm>
          <a:prstGeom prst="rect">
            <a:avLst/>
          </a:prstGeom>
          <a:solidFill>
            <a:srgbClr val="FB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6200"/>
          </a:xfrm>
          <a:prstGeom prst="rect">
            <a:avLst/>
          </a:prstGeom>
          <a:solidFill>
            <a:srgbClr val="45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6200"/>
          </a:xfrm>
          <a:prstGeom prst="rect">
            <a:avLst/>
          </a:prstGeom>
          <a:solidFill>
            <a:srgbClr val="FF5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6200"/>
          </a:xfrm>
          <a:prstGeom prst="rect">
            <a:avLst/>
          </a:prstGeom>
          <a:solidFill>
            <a:srgbClr val="1E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7315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FBBF46"/>
                </a:solidFill>
                <a:latin typeface="Arial Narrow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695" y="384048"/>
            <a:ext cx="19202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400" b="1">
                <a:solidFill>
                  <a:srgbClr val="1EDFD4"/>
                </a:solidFill>
                <a:latin typeface="Arial"/>
              </a:rPr>
              <a:t>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11460175" cy="685800"/>
          </a:xfrm>
          <a:prstGeom prst="rect">
            <a:avLst/>
          </a:prstGeom>
          <a:solidFill>
            <a:srgbClr val="0F0F12"/>
          </a:solidFill>
          <a:ln w="12700">
            <a:solidFill>
              <a:srgbClr val="1E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87552"/>
            <a:ext cx="11094415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Paid media is working. One booked job at 38.5% GM covers ~32–42 leads at the current CPL. Visitor decline is a deliberate trade of volume for intent — not underperformance.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783080"/>
          <a:ext cx="11460173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4609"/>
                <a:gridCol w="2274538"/>
                <a:gridCol w="2974396"/>
                <a:gridCol w="3149361"/>
                <a:gridCol w="1137269"/>
              </a:tblGrid>
              <a:tr h="701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5AEFF"/>
                          </a:solidFill>
                          <a:latin typeface="Arial"/>
                        </a:rPr>
                        <a:t>KPI</a:t>
                      </a:r>
                    </a:p>
                  </a:txBody>
                  <a:tcPr marL="76200" marR="76200" marT="38100" marB="38100" anchor="ctr">
                    <a:solidFill>
                      <a:srgbClr val="0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5AEFF"/>
                          </a:solidFill>
                          <a:latin typeface="Arial"/>
                        </a:rPr>
                        <a:t>May 2026</a:t>
                      </a:r>
                    </a:p>
                  </a:txBody>
                  <a:tcPr marL="76200" marR="76200" marT="38100" marB="38100" anchor="ctr">
                    <a:solidFill>
                      <a:srgbClr val="0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5AEFF"/>
                          </a:solidFill>
                          <a:latin typeface="Arial"/>
                        </a:rPr>
                        <a:t>Trend (Jan–May)</a:t>
                      </a:r>
                    </a:p>
                  </a:txBody>
                  <a:tcPr marL="76200" marR="76200" marT="38100" marB="38100" anchor="ctr">
                    <a:solidFill>
                      <a:srgbClr val="0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5AEFF"/>
                          </a:solidFill>
                          <a:latin typeface="Arial"/>
                        </a:rPr>
                        <a:t>YoY context</a:t>
                      </a:r>
                    </a:p>
                  </a:txBody>
                  <a:tcPr marL="76200" marR="76200" marT="38100" marB="38100" anchor="ctr">
                    <a:solidFill>
                      <a:srgbClr val="0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5AE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6200" marR="76200" marT="38100" marB="38100" anchor="ctr">
                    <a:solidFill>
                      <a:srgbClr val="0A1A2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Website Visitors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2,478 active users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Stable vs Apr; spring softening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−36.8% YoY — PMAX removed (strategic)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9E0B"/>
                          </a:solidFill>
                          <a:latin typeface="Arial"/>
                        </a:rPr>
                        <a:t>Amber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Conversion Volume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37 lead forms (May)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124 Group 2 forms Jan–May (≈24.8/mo)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2025: ≈49/mo — different tracking definition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9E0B"/>
                          </a:solidFill>
                          <a:latin typeface="Arial"/>
                        </a:rPr>
                        <a:t>Amber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Conversion Quality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38.5% GM · £5,508 job · 21 days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GM up 31.3%→38.5%; speed doubled 41→21d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Margin and speed both improving YoY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Cost per Lead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£160 blended (May)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Holding £160–165 since Apr (Mar spike £228)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Genuine 2025 CPL ≈£46 — not like-for-like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Spend vs Budget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£5,929 of ~£6,200 (96%)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Near-capacity since Apr (99–96%)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£200/day confirmed by Neil Pertoldi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6537960"/>
            <a:ext cx="11460175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Internal — not for external distribution  ·  HUDL Consultancy  ·  woody@hudl.gg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6200"/>
          </a:xfrm>
          <a:prstGeom prst="rect">
            <a:avLst/>
          </a:prstGeom>
          <a:solidFill>
            <a:srgbClr val="FB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6200"/>
          </a:xfrm>
          <a:prstGeom prst="rect">
            <a:avLst/>
          </a:prstGeom>
          <a:solidFill>
            <a:srgbClr val="45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6200"/>
          </a:xfrm>
          <a:prstGeom prst="rect">
            <a:avLst/>
          </a:prstGeom>
          <a:solidFill>
            <a:srgbClr val="FF5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6200"/>
          </a:xfrm>
          <a:prstGeom prst="rect">
            <a:avLst/>
          </a:prstGeom>
          <a:solidFill>
            <a:srgbClr val="1E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74320"/>
            <a:ext cx="1005840" cy="457200"/>
          </a:xfrm>
          <a:prstGeom prst="roundRect">
            <a:avLst/>
          </a:prstGeom>
          <a:solidFill>
            <a:srgbClr val="45A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C0C0C"/>
                </a:solidFill>
                <a:latin typeface="Arial"/>
              </a:rPr>
              <a:t>KPI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74320"/>
            <a:ext cx="91440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 Narrow"/>
              </a:rPr>
              <a:t>WEBSITE VISITORS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375909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45AEFF"/>
                </a:solidFill>
                <a:latin typeface="Arial"/>
              </a:rPr>
              <a:t>WHAT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3759098" cy="493776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3484778" cy="4663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2,478 active users · 2,847 sessions in May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/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13,329 active users Jan–May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/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−36.8% YoY (May 2025: 3,918)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6298" y="960120"/>
            <a:ext cx="375909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45AEFF"/>
                </a:solidFill>
                <a:latin typeface="Arial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6298" y="1325880"/>
            <a:ext cx="3759098" cy="493776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3458" y="1463040"/>
            <a:ext cx="3484778" cy="4663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Decline is strategic, not a failure. In 2025, Performance Max generated 11.4 million impressions — almost entirely low-intent display traffic at sub-1% CTR.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/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We removed PMAX and switched to five targeted Search-only campaigns. Volume down, intent 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6836" y="960120"/>
            <a:ext cx="375909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45AEFF"/>
                </a:solidFill>
                <a:latin typeface="Arial"/>
              </a:rPr>
              <a:t>HOW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6836" y="1325880"/>
            <a:ext cx="3759098" cy="493776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3996" y="1463040"/>
            <a:ext cx="3484778" cy="4663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9.6% Search conversion rate proves the higher-quality audience.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/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Levers to recover volume: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• Unlock Europe's 44% lost impression share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• Unlock London's 63% lost impression share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• Structured SEO activity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/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Both IS gaps addressed in Q3 (7 July).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11460175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Internal — not for external distribution  ·  HUDL Consultancy  ·  woody@hudl.gg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6200"/>
          </a:xfrm>
          <a:prstGeom prst="rect">
            <a:avLst/>
          </a:prstGeom>
          <a:solidFill>
            <a:srgbClr val="FB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6200"/>
          </a:xfrm>
          <a:prstGeom prst="rect">
            <a:avLst/>
          </a:prstGeom>
          <a:solidFill>
            <a:srgbClr val="45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6200"/>
          </a:xfrm>
          <a:prstGeom prst="rect">
            <a:avLst/>
          </a:prstGeom>
          <a:solidFill>
            <a:srgbClr val="FF5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6200"/>
          </a:xfrm>
          <a:prstGeom prst="rect">
            <a:avLst/>
          </a:prstGeom>
          <a:solidFill>
            <a:srgbClr val="1E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74320"/>
            <a:ext cx="1005840" cy="457200"/>
          </a:xfrm>
          <a:prstGeom prst="roundRect">
            <a:avLst/>
          </a:prstGeom>
          <a:solidFill>
            <a:srgbClr val="1ED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C0C0C"/>
                </a:solidFill>
                <a:latin typeface="Arial"/>
              </a:rPr>
              <a:t>KPI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74320"/>
            <a:ext cx="91440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 Narrow"/>
              </a:rPr>
              <a:t>CONVERSION 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375909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1EDFD4"/>
                </a:solidFill>
                <a:latin typeface="Arial"/>
              </a:rPr>
              <a:t>WHAT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3759098" cy="493776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3484778" cy="4663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37 lead forms in May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/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124 Group 2 form submissions Jan–May (≈24.8/mo)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/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Note: Group 2 = genuine form enquiries only. 2026 counts only this.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6298" y="960120"/>
            <a:ext cx="375909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1EDFD4"/>
                </a:solidFill>
                <a:latin typeface="Arial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6298" y="1325880"/>
            <a:ext cx="3759098" cy="493776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3458" y="1463040"/>
            <a:ext cx="3484778" cy="4663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2025 counted soft actions (page views, phone clicks) as conversions — the misleading £21 CPA and ≈177/mo.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/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Genuine 2025 rate ≈49/mo vs 2026 ≈25/mo. Gap = −37% traffic + lower budget + Domestic inefficiency.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6836" y="960120"/>
            <a:ext cx="375909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1EDFD4"/>
                </a:solidFill>
                <a:latin typeface="Arial"/>
              </a:rPr>
              <a:t>HOW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6836" y="1325880"/>
            <a:ext cx="3759098" cy="493776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3996" y="1463040"/>
            <a:ext cx="3484778" cy="4663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Europe drove 19 of May's 37 conversions (51%) — clearest signal of where budget belongs.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/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Europe and London are budget-limited — they stop serving mid-day at their cap. 124 is a floor, not a ceiling. Q3 reallocation targets this.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11460175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Internal — not for external distribution  ·  HUDL Consultancy  ·  woody@hudl.gg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6200"/>
          </a:xfrm>
          <a:prstGeom prst="rect">
            <a:avLst/>
          </a:prstGeom>
          <a:solidFill>
            <a:srgbClr val="FB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6200"/>
          </a:xfrm>
          <a:prstGeom prst="rect">
            <a:avLst/>
          </a:prstGeom>
          <a:solidFill>
            <a:srgbClr val="45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6200"/>
          </a:xfrm>
          <a:prstGeom prst="rect">
            <a:avLst/>
          </a:prstGeom>
          <a:solidFill>
            <a:srgbClr val="FF5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6200"/>
          </a:xfrm>
          <a:prstGeom prst="rect">
            <a:avLst/>
          </a:prstGeom>
          <a:solidFill>
            <a:srgbClr val="1E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74320"/>
            <a:ext cx="1005840" cy="45720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C0C0C"/>
                </a:solidFill>
                <a:latin typeface="Arial"/>
              </a:rPr>
              <a:t>KPI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74320"/>
            <a:ext cx="91440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 Narrow"/>
              </a:rPr>
              <a:t>CONVERSION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375909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Arial"/>
              </a:rPr>
              <a:t>WHAT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3759098" cy="493776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3484778" cy="4663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53 jobs won · £291,919 revenue (Jan–May)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/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38.5% gross margin (up from 31.3%)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/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£5,508 average won job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/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21 days to book (down from 41)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/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Source: AGM Power BI · all channels.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6298" y="960120"/>
            <a:ext cx="375909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Arial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6298" y="1325880"/>
            <a:ext cx="3759098" cy="493776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3458" y="1463040"/>
            <a:ext cx="3484778" cy="4663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The commercial proof: enquiries convert into higher-margin jobs, faster. Gross margin up 31.3%→38.5%. Deals close in half the time (41→21 days). Job value steady ~£5,500 — no trading down.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/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Winning better jobs, not just more.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6836" y="960120"/>
            <a:ext cx="375909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Arial"/>
              </a:rPr>
              <a:t>HOW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6836" y="1325880"/>
            <a:ext cx="3759098" cy="493776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3996" y="1463040"/>
            <a:ext cx="3484778" cy="4663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£130–170 CPL against £5,508 job at 38.5% GM (~£2,120 gross profit) = each job covers 12–16 leads at cost.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/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Routing budget to Europe and London — lowest CPL, highest win rate — lifts monthly revenue without touching margin.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11460175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Internal — not for external distribution  ·  HUDL Consultancy  ·  woody@hudl.gg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6200"/>
          </a:xfrm>
          <a:prstGeom prst="rect">
            <a:avLst/>
          </a:prstGeom>
          <a:solidFill>
            <a:srgbClr val="FB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6200"/>
          </a:xfrm>
          <a:prstGeom prst="rect">
            <a:avLst/>
          </a:prstGeom>
          <a:solidFill>
            <a:srgbClr val="45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6200"/>
          </a:xfrm>
          <a:prstGeom prst="rect">
            <a:avLst/>
          </a:prstGeom>
          <a:solidFill>
            <a:srgbClr val="FF5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6200"/>
          </a:xfrm>
          <a:prstGeom prst="rect">
            <a:avLst/>
          </a:prstGeom>
          <a:solidFill>
            <a:srgbClr val="1E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74320"/>
            <a:ext cx="1005840" cy="457200"/>
          </a:xfrm>
          <a:prstGeom prst="roundRect">
            <a:avLst/>
          </a:prstGeom>
          <a:solidFill>
            <a:srgbClr val="FBB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C0C0C"/>
                </a:solidFill>
                <a:latin typeface="Arial"/>
              </a:rPr>
              <a:t>KPI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74320"/>
            <a:ext cx="91440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 Narrow"/>
              </a:rPr>
              <a:t>COST PER LEAD (CPL)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375909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FBBF46"/>
                </a:solidFill>
                <a:latin typeface="Arial"/>
              </a:rPr>
              <a:t>WHAT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3759098" cy="493776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3484778" cy="4663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£160 blended (May)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£165 blended Jan–May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/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By campaign (Jan–May):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Europe £130 · London £151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International £174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Domestic £299 · Brand £24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6298" y="960120"/>
            <a:ext cx="375909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FBBF46"/>
                </a:solidFill>
                <a:latin typeface="Arial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6298" y="1325880"/>
            <a:ext cx="3759098" cy="493776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3458" y="1463040"/>
            <a:ext cx="3484778" cy="4663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£165 blended is commercially sound (see KPI 3).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/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Domestic is the outlier: £299/enquiry, the only campaign returning less value than cost (0.74×). Root cause: irrelevant queries — man-and-van, storage, recruitment.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6836" y="960120"/>
            <a:ext cx="375909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FBBF46"/>
                </a:solidFill>
                <a:latin typeface="Arial"/>
              </a:rPr>
              <a:t>HOW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6836" y="1325880"/>
            <a:ext cx="3759098" cy="493776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3996" y="1463040"/>
            <a:ext cx="3484778" cy="4663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Domestic Clean-Up Pack (live 23 June):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• 90 negative keywords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• Core terms broad → phrase/exact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• tCPA recalibrated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/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Target: £200–230 from £299 over 6–8 weeks. Q3 reallocation channels freed budget into Europe and London.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11460175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Internal — not for external distribution  ·  HUDL Consultancy  ·  woody@hudl.gg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6200"/>
          </a:xfrm>
          <a:prstGeom prst="rect">
            <a:avLst/>
          </a:prstGeom>
          <a:solidFill>
            <a:srgbClr val="FB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6200"/>
          </a:xfrm>
          <a:prstGeom prst="rect">
            <a:avLst/>
          </a:prstGeom>
          <a:solidFill>
            <a:srgbClr val="45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6200"/>
          </a:xfrm>
          <a:prstGeom prst="rect">
            <a:avLst/>
          </a:prstGeom>
          <a:solidFill>
            <a:srgbClr val="FF5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6200"/>
          </a:xfrm>
          <a:prstGeom prst="rect">
            <a:avLst/>
          </a:prstGeom>
          <a:solidFill>
            <a:srgbClr val="1E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74320"/>
            <a:ext cx="1005840" cy="457200"/>
          </a:xfrm>
          <a:prstGeom prst="roundRect">
            <a:avLst/>
          </a:prstGeom>
          <a:solidFill>
            <a:srgbClr val="1ED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C0C0C"/>
                </a:solidFill>
                <a:latin typeface="Arial"/>
              </a:rPr>
              <a:t>KPI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74320"/>
            <a:ext cx="91440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 Narrow"/>
              </a:rPr>
              <a:t>SPEND VS 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375909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1EDFD4"/>
                </a:solidFill>
                <a:latin typeface="Arial"/>
              </a:rPr>
              <a:t>WHAT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3759098" cy="493776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3484778" cy="4663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May Search: £5,929 (96% of ~£6,200 ceiling)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/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Jan–May Search total: £22,364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/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Trend: Jan £3,751 · Feb £1,339 · Mar £5,242 · Apr £6,103 · May £5,929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/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Ceiling: £200/day (Neil Pertoldi).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6298" y="960120"/>
            <a:ext cx="375909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1EDFD4"/>
                </a:solidFill>
                <a:latin typeface="Arial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6298" y="1325880"/>
            <a:ext cx="3759098" cy="493776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3458" y="1463040"/>
            <a:ext cx="3484778" cy="4663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Account runs at effective capacity Apr–May (99–96%). Goal is efficiency, not raw spend — put each pound where it generates the most profitable enquiries.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/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£200/day total held in Q3 — reallocation changes distribution, not the total.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6836" y="960120"/>
            <a:ext cx="375909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1EDFD4"/>
                </a:solidFill>
                <a:latin typeface="Arial"/>
              </a:rPr>
              <a:t>HOW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6836" y="1325880"/>
            <a:ext cx="3759098" cy="493776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3996" y="1463040"/>
            <a:ext cx="3484778" cy="4663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Q3 reallocation (go-live 7 July):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Europe £97 → £115–130/day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London £28 → £45–55/day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Domestic £40 → £20/day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Intl + Brand: unchanged</a:t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/>
            </a:r>
          </a:p>
          <a:p>
            <a:pPr algn="l"/>
            <a:r>
              <a:rPr sz="1150" b="0">
                <a:solidFill>
                  <a:srgbClr val="9A9A9A"/>
                </a:solidFill>
                <a:latin typeface="Arial"/>
              </a:rPr>
              <a:t>Phased: clean-up 23 Jun → budgets 7 Jul → tCPA 14 Jul. Smart Bidding needs 2–4 wks to settle.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11460175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Internal — not for external distribution  ·  HUDL Consultancy  ·  woody@hudl.gg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6200"/>
          </a:xfrm>
          <a:prstGeom prst="rect">
            <a:avLst/>
          </a:prstGeom>
          <a:solidFill>
            <a:srgbClr val="FB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6200"/>
          </a:xfrm>
          <a:prstGeom prst="rect">
            <a:avLst/>
          </a:prstGeom>
          <a:solidFill>
            <a:srgbClr val="45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6200"/>
          </a:xfrm>
          <a:prstGeom prst="rect">
            <a:avLst/>
          </a:prstGeom>
          <a:solidFill>
            <a:srgbClr val="FF5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6200"/>
          </a:xfrm>
          <a:prstGeom prst="rect">
            <a:avLst/>
          </a:prstGeom>
          <a:solidFill>
            <a:srgbClr val="1E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09728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BBF46"/>
                </a:solidFill>
                <a:latin typeface="Arial Narrow"/>
              </a:rPr>
              <a:t>CAMPAIGN ACTIVITY — MAY / JUNE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914400"/>
          <a:ext cx="11460172" cy="5120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5156"/>
                <a:gridCol w="4797282"/>
                <a:gridCol w="1599094"/>
                <a:gridCol w="1332578"/>
                <a:gridCol w="1066062"/>
              </a:tblGrid>
              <a:tr h="6400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5AEFF"/>
                          </a:solidFill>
                          <a:latin typeface="Arial"/>
                        </a:rPr>
                        <a:t>Initiative</a:t>
                      </a:r>
                    </a:p>
                  </a:txBody>
                  <a:tcPr marL="76200" marR="76200" marT="38100" marB="38100" anchor="ctr">
                    <a:solidFill>
                      <a:srgbClr val="0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5AEFF"/>
                          </a:solidFill>
                          <a:latin typeface="Arial"/>
                        </a:rPr>
                        <a:t>What</a:t>
                      </a:r>
                    </a:p>
                  </a:txBody>
                  <a:tcPr marL="76200" marR="76200" marT="38100" marB="38100" anchor="ctr">
                    <a:solidFill>
                      <a:srgbClr val="0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5AE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6200" marR="76200" marT="38100" marB="38100" anchor="ctr">
                    <a:solidFill>
                      <a:srgbClr val="0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5AE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76200" marR="76200" marT="38100" marB="38100" anchor="ctr">
                    <a:solidFill>
                      <a:srgbClr val="0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5AEFF"/>
                          </a:solidFill>
                          <a:latin typeface="Arial"/>
                        </a:rPr>
                        <a:t>Live</a:t>
                      </a:r>
                    </a:p>
                  </a:txBody>
                  <a:tcPr marL="76200" marR="76200" marT="38100" marB="38100" anchor="ctr">
                    <a:solidFill>
                      <a:srgbClr val="0A1A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Account audit &amp; diagnosis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A9A"/>
                          </a:solidFill>
                          <a:latin typeface="Arial"/>
                        </a:rPr>
                        <a:t>Domestic over-funded; Europe/London under-funded &amp; throttled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C55E"/>
                          </a:solidFill>
                          <a:latin typeface="Arial"/>
                        </a:rPr>
                        <a:t>Completed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A9A"/>
                          </a:solidFill>
                          <a:latin typeface="Arial"/>
                        </a:rPr>
                        <a:t>Pippa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A9A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Domestic clean-up pack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A9A"/>
                          </a:solidFill>
                          <a:latin typeface="Arial"/>
                        </a:rPr>
                        <a:t>90 negatives + match-type tightening · CPA £299→£200–230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59E0B"/>
                          </a:solidFill>
                          <a:latin typeface="Arial"/>
                        </a:rPr>
                        <a:t>Prepared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A9A"/>
                          </a:solidFill>
                          <a:latin typeface="Arial"/>
                        </a:rPr>
                        <a:t>Pippa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A9A"/>
                          </a:solidFill>
                          <a:latin typeface="Arial"/>
                        </a:rPr>
                        <a:t>23 Jun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Budget reallocation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A9A"/>
                          </a:solidFill>
                          <a:latin typeface="Arial"/>
                        </a:rPr>
                        <a:t>Europe ↑ London ↑ Domestic ↓ · total held £200/day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59E0B"/>
                          </a:solidFill>
                          <a:latin typeface="Arial"/>
                        </a:rPr>
                        <a:t>Prepared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A9A"/>
                          </a:solidFill>
                          <a:latin typeface="Arial"/>
                        </a:rPr>
                        <a:t>Pippa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A9A"/>
                          </a:solidFill>
                          <a:latin typeface="Arial"/>
                        </a:rPr>
                        <a:t>7 Jul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Q3 brief + RSA ad copy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A9A"/>
                          </a:solidFill>
                          <a:latin typeface="Arial"/>
                        </a:rPr>
                        <a:t>15 headlines + 4 descriptions/campaign + 2 landing pages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C55E"/>
                          </a:solidFill>
                          <a:latin typeface="Arial"/>
                        </a:rPr>
                        <a:t>Completed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A9A"/>
                          </a:solidFill>
                          <a:latin typeface="Arial"/>
                        </a:rPr>
                        <a:t>Hunter/Otis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A9A"/>
                          </a:solidFill>
                          <a:latin typeface="Arial"/>
                        </a:rPr>
                        <a:t>Sign-off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GA4 analytics review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A9A"/>
                          </a:solidFill>
                          <a:latin typeface="Arial"/>
                        </a:rPr>
                        <a:t>Dashboard updated; quote-path UX opportunity flagged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C55E"/>
                          </a:solidFill>
                          <a:latin typeface="Arial"/>
                        </a:rPr>
                        <a:t>Completed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A9A"/>
                          </a:solidFill>
                          <a:latin typeface="Arial"/>
                        </a:rPr>
                        <a:t>Dash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A9A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Conversion tracking reconciled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A9A"/>
                          </a:solidFill>
                          <a:latin typeface="Arial"/>
                        </a:rPr>
                        <a:t>Proved 2025 counted soft actions; 2026 form-submits only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C55E"/>
                          </a:solidFill>
                          <a:latin typeface="Arial"/>
                        </a:rPr>
                        <a:t>Completed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A9A"/>
                          </a:solidFill>
                          <a:latin typeface="Arial"/>
                        </a:rPr>
                        <a:t>Pippa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A9A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Offline conversion import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A9A"/>
                          </a:solidFill>
                          <a:latin typeface="Arial"/>
                        </a:rPr>
                        <a:t>Re-enable Moveware→Ads (88 leads/£44k in 2025; 0 in 2026)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5AEFF"/>
                          </a:solidFill>
                          <a:latin typeface="Arial"/>
                        </a:rPr>
                        <a:t>Recommended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A9A"/>
                          </a:solidFill>
                          <a:latin typeface="Arial"/>
                        </a:rPr>
                        <a:t>Woody+JDR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9A9A9A"/>
                          </a:solidFill>
                          <a:latin typeface="Arial"/>
                        </a:rPr>
                        <a:t>Q3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537960"/>
            <a:ext cx="11460175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Internal — not for external distribution  ·  HUDL Consultancy  ·  woody@hudl.gg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6200"/>
          </a:xfrm>
          <a:prstGeom prst="rect">
            <a:avLst/>
          </a:prstGeom>
          <a:solidFill>
            <a:srgbClr val="FB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6200"/>
          </a:xfrm>
          <a:prstGeom prst="rect">
            <a:avLst/>
          </a:prstGeom>
          <a:solidFill>
            <a:srgbClr val="45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6200"/>
          </a:xfrm>
          <a:prstGeom prst="rect">
            <a:avLst/>
          </a:prstGeom>
          <a:solidFill>
            <a:srgbClr val="FF5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6200"/>
          </a:xfrm>
          <a:prstGeom prst="rect">
            <a:avLst/>
          </a:prstGeom>
          <a:solidFill>
            <a:srgbClr val="1E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FBBF46"/>
                </a:solidFill>
                <a:latin typeface="Arial Narrow"/>
              </a:rPr>
              <a:t>FINANCIAL SUMMARY — MONTHLY SPEND JAN–MAY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005840"/>
          <a:ext cx="11460172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5724"/>
                <a:gridCol w="1763103"/>
                <a:gridCol w="1763103"/>
                <a:gridCol w="2115724"/>
                <a:gridCol w="2292035"/>
                <a:gridCol w="1410483"/>
              </a:tblGrid>
              <a:tr h="57476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5AEFF"/>
                          </a:solidFill>
                          <a:latin typeface="Arial"/>
                        </a:rPr>
                        <a:t>Month</a:t>
                      </a:r>
                    </a:p>
                  </a:txBody>
                  <a:tcPr marL="76200" marR="76200" marT="38100" marB="38100" anchor="ctr">
                    <a:solidFill>
                      <a:srgbClr val="0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5AEFF"/>
                          </a:solidFill>
                          <a:latin typeface="Arial"/>
                        </a:rPr>
                        <a:t>Search Spend</a:t>
                      </a:r>
                    </a:p>
                  </a:txBody>
                  <a:tcPr marL="76200" marR="76200" marT="38100" marB="38100" anchor="ctr">
                    <a:solidFill>
                      <a:srgbClr val="0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5AEFF"/>
                          </a:solidFill>
                          <a:latin typeface="Arial"/>
                        </a:rPr>
                        <a:t>Conversions</a:t>
                      </a:r>
                    </a:p>
                  </a:txBody>
                  <a:tcPr marL="76200" marR="76200" marT="38100" marB="38100" anchor="ctr">
                    <a:solidFill>
                      <a:srgbClr val="0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5AEFF"/>
                          </a:solidFill>
                          <a:latin typeface="Arial"/>
                        </a:rPr>
                        <a:t>CPA</a:t>
                      </a:r>
                    </a:p>
                  </a:txBody>
                  <a:tcPr marL="76200" marR="76200" marT="38100" marB="38100" anchor="ctr">
                    <a:solidFill>
                      <a:srgbClr val="0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5AEFF"/>
                          </a:solidFill>
                          <a:latin typeface="Arial"/>
                        </a:rPr>
                        <a:t>Budget Ceiling</a:t>
                      </a:r>
                    </a:p>
                  </a:txBody>
                  <a:tcPr marL="76200" marR="76200" marT="38100" marB="38100" anchor="ctr">
                    <a:solidFill>
                      <a:srgbClr val="0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5AEFF"/>
                          </a:solidFill>
                          <a:latin typeface="Arial"/>
                        </a:rPr>
                        <a:t>Utilisation</a:t>
                      </a:r>
                    </a:p>
                  </a:txBody>
                  <a:tcPr marL="76200" marR="76200" marT="38100" marB="38100" anchor="ctr">
                    <a:solidFill>
                      <a:srgbClr val="0A1A2A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January 2026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9A9A"/>
                          </a:solidFill>
                          <a:latin typeface="Arial"/>
                        </a:rPr>
                        <a:t>£3,751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9A9A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9A9A"/>
                          </a:solidFill>
                          <a:latin typeface="Arial"/>
                        </a:rPr>
                        <a:t>£130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9A9A"/>
                          </a:solidFill>
                          <a:latin typeface="Arial"/>
                        </a:rPr>
                        <a:t>~£6,200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9A9A"/>
                          </a:solidFill>
                          <a:latin typeface="Arial"/>
                        </a:rPr>
                        <a:t>61%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February 2026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9A9A"/>
                          </a:solidFill>
                          <a:latin typeface="Arial"/>
                        </a:rPr>
                        <a:t>£1,339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9A9A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9A9A"/>
                          </a:solidFill>
                          <a:latin typeface="Arial"/>
                        </a:rPr>
                        <a:t>£149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9A9A"/>
                          </a:solidFill>
                          <a:latin typeface="Arial"/>
                        </a:rPr>
                        <a:t>~£5,600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9A9A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March 2026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9A9A"/>
                          </a:solidFill>
                          <a:latin typeface="Arial"/>
                        </a:rPr>
                        <a:t>£5,242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9A9A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9A9A"/>
                          </a:solidFill>
                          <a:latin typeface="Arial"/>
                        </a:rPr>
                        <a:t>£228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9A9A"/>
                          </a:solidFill>
                          <a:latin typeface="Arial"/>
                        </a:rPr>
                        <a:t>~£6,200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9A9A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April 2026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9A9A"/>
                          </a:solidFill>
                          <a:latin typeface="Arial"/>
                        </a:rPr>
                        <a:t>£6,103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9A9A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9A9A"/>
                          </a:solidFill>
                          <a:latin typeface="Arial"/>
                        </a:rPr>
                        <a:t>£161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9A9A"/>
                          </a:solidFill>
                          <a:latin typeface="Arial"/>
                        </a:rPr>
                        <a:t>~£6,000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9A9A9A"/>
                          </a:solidFill>
                          <a:latin typeface="Arial"/>
                        </a:rPr>
                        <a:t>102%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DFD4"/>
                          </a:solidFill>
                          <a:latin typeface="Arial"/>
                        </a:rPr>
                        <a:t>May 2026</a:t>
                      </a:r>
                    </a:p>
                  </a:txBody>
                  <a:tcPr marL="76200" marR="76200" marT="25400" marB="25400" anchor="ctr">
                    <a:solidFill>
                      <a:srgbClr val="0A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DFD4"/>
                          </a:solidFill>
                          <a:latin typeface="Arial"/>
                        </a:rPr>
                        <a:t>£5,929</a:t>
                      </a:r>
                    </a:p>
                  </a:txBody>
                  <a:tcPr marL="76200" marR="76200" marT="25400" marB="25400" anchor="ctr">
                    <a:solidFill>
                      <a:srgbClr val="0A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DFD4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76200" marR="76200" marT="25400" marB="25400" anchor="ctr">
                    <a:solidFill>
                      <a:srgbClr val="0A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DFD4"/>
                          </a:solidFill>
                          <a:latin typeface="Arial"/>
                        </a:rPr>
                        <a:t>£160</a:t>
                      </a:r>
                    </a:p>
                  </a:txBody>
                  <a:tcPr marL="76200" marR="76200" marT="25400" marB="25400" anchor="ctr">
                    <a:solidFill>
                      <a:srgbClr val="0A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DFD4"/>
                          </a:solidFill>
                          <a:latin typeface="Arial"/>
                        </a:rPr>
                        <a:t>~£6,200</a:t>
                      </a:r>
                    </a:p>
                  </a:txBody>
                  <a:tcPr marL="76200" marR="76200" marT="25400" marB="25400" anchor="ctr">
                    <a:solidFill>
                      <a:srgbClr val="0A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DFD4"/>
                          </a:solidFill>
                          <a:latin typeface="Arial"/>
                        </a:rPr>
                        <a:t>96%</a:t>
                      </a:r>
                    </a:p>
                  </a:txBody>
                  <a:tcPr marL="76200" marR="76200" marT="25400" marB="25400" anchor="ctr">
                    <a:solidFill>
                      <a:srgbClr val="0A1A25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BBF46"/>
                          </a:solidFill>
                          <a:latin typeface="Arial"/>
                        </a:rPr>
                        <a:t>Jan–May total</a:t>
                      </a:r>
                    </a:p>
                  </a:txBody>
                  <a:tcPr marL="76200" marR="76200" marT="25400" marB="25400" anchor="ctr">
                    <a:solidFill>
                      <a:srgbClr val="1A15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BBF46"/>
                          </a:solidFill>
                          <a:latin typeface="Arial"/>
                        </a:rPr>
                        <a:t>£22,364</a:t>
                      </a:r>
                    </a:p>
                  </a:txBody>
                  <a:tcPr marL="76200" marR="76200" marT="25400" marB="25400" anchor="ctr">
                    <a:solidFill>
                      <a:srgbClr val="1A15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BBF46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76200" marR="76200" marT="25400" marB="25400" anchor="ctr">
                    <a:solidFill>
                      <a:srgbClr val="1A15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BBF46"/>
                          </a:solidFill>
                          <a:latin typeface="Arial"/>
                        </a:rPr>
                        <a:t>£165 blended</a:t>
                      </a:r>
                    </a:p>
                  </a:txBody>
                  <a:tcPr marL="76200" marR="76200" marT="25400" marB="25400" anchor="ctr">
                    <a:solidFill>
                      <a:srgbClr val="1A15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BBF46"/>
                          </a:solidFill>
                          <a:latin typeface="Arial"/>
                        </a:rPr>
                        <a:t>£200/day confirmed</a:t>
                      </a:r>
                    </a:p>
                  </a:txBody>
                  <a:tcPr marL="76200" marR="76200" marT="25400" marB="25400" anchor="ctr">
                    <a:solidFill>
                      <a:srgbClr val="1A15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BBF4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6200" marR="76200" marT="25400" marB="25400" anchor="ctr">
                    <a:solidFill>
                      <a:srgbClr val="1A150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212080"/>
            <a:ext cx="11460175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9A9A9A"/>
                </a:solidFill>
                <a:latin typeface="Arial"/>
              </a:rPr>
              <a:t>* April 102% is within daily budget pacing tolerance. February reflects early-year campaign calibration.</a:t>
            </a:r>
          </a:p>
          <a:p>
            <a:pPr algn="l"/>
            <a:r>
              <a:rPr sz="1000" b="0">
                <a:solidFill>
                  <a:srgbClr val="9A9A9A"/>
                </a:solidFill>
                <a:latin typeface="Arial"/>
              </a:rPr>
              <a:t>Total Search (all campaigns) £22,364; JDR-managed campaigns £16,432. Ceiling £200/day confirmed by Neil Pertoldi.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11460175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Internal — not for external distribution  ·  HUDL Consultancy  ·  woody@hudl.gg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6200"/>
          </a:xfrm>
          <a:prstGeom prst="rect">
            <a:avLst/>
          </a:prstGeom>
          <a:solidFill>
            <a:srgbClr val="FB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6200"/>
          </a:xfrm>
          <a:prstGeom prst="rect">
            <a:avLst/>
          </a:prstGeom>
          <a:solidFill>
            <a:srgbClr val="45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6200"/>
          </a:xfrm>
          <a:prstGeom prst="rect">
            <a:avLst/>
          </a:prstGeom>
          <a:solidFill>
            <a:srgbClr val="FF5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6200"/>
          </a:xfrm>
          <a:prstGeom prst="rect">
            <a:avLst/>
          </a:prstGeom>
          <a:solidFill>
            <a:srgbClr val="1E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114300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FBBF46"/>
                </a:solidFill>
                <a:latin typeface="Arial Narrow"/>
              </a:rPr>
              <a:t>CPA BY CAMPAIGN — JAN–MAY 2026 (JDR Search)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005840"/>
          <a:ext cx="11460172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92035"/>
                <a:gridCol w="1322327"/>
                <a:gridCol w="1146017"/>
                <a:gridCol w="1146017"/>
                <a:gridCol w="1498638"/>
                <a:gridCol w="1939414"/>
                <a:gridCol w="2115724"/>
              </a:tblGrid>
              <a:tr h="50945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5AEFF"/>
                          </a:solidFill>
                          <a:latin typeface="Arial"/>
                        </a:rPr>
                        <a:t>Campaign</a:t>
                      </a:r>
                    </a:p>
                  </a:txBody>
                  <a:tcPr marL="76200" marR="76200" marT="38100" marB="38100" anchor="ctr">
                    <a:solidFill>
                      <a:srgbClr val="0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5AEFF"/>
                          </a:solidFill>
                          <a:latin typeface="Arial"/>
                        </a:rPr>
                        <a:t>Spend</a:t>
                      </a:r>
                    </a:p>
                  </a:txBody>
                  <a:tcPr marL="76200" marR="76200" marT="38100" marB="38100" anchor="ctr">
                    <a:solidFill>
                      <a:srgbClr val="0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5AEFF"/>
                          </a:solidFill>
                          <a:latin typeface="Arial"/>
                        </a:rPr>
                        <a:t>Conv.</a:t>
                      </a:r>
                    </a:p>
                  </a:txBody>
                  <a:tcPr marL="76200" marR="76200" marT="38100" marB="38100" anchor="ctr">
                    <a:solidFill>
                      <a:srgbClr val="0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5AEFF"/>
                          </a:solidFill>
                          <a:latin typeface="Arial"/>
                        </a:rPr>
                        <a:t>CPA</a:t>
                      </a:r>
                    </a:p>
                  </a:txBody>
                  <a:tcPr marL="76200" marR="76200" marT="38100" marB="38100" anchor="ctr">
                    <a:solidFill>
                      <a:srgbClr val="0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5AEFF"/>
                          </a:solidFill>
                          <a:latin typeface="Arial"/>
                        </a:rPr>
                        <a:t>Value/Cost</a:t>
                      </a:r>
                    </a:p>
                  </a:txBody>
                  <a:tcPr marL="76200" marR="76200" marT="38100" marB="38100" anchor="ctr">
                    <a:solidFill>
                      <a:srgbClr val="0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5AEFF"/>
                          </a:solidFill>
                          <a:latin typeface="Arial"/>
                        </a:rPr>
                        <a:t>Lost IS (budget)</a:t>
                      </a:r>
                    </a:p>
                  </a:txBody>
                  <a:tcPr marL="76200" marR="76200" marT="38100" marB="38100" anchor="ctr">
                    <a:solidFill>
                      <a:srgbClr val="0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5AEFF"/>
                          </a:solidFill>
                          <a:latin typeface="Arial"/>
                        </a:rPr>
                        <a:t>Note</a:t>
                      </a:r>
                    </a:p>
                  </a:txBody>
                  <a:tcPr marL="76200" marR="76200" marT="38100" marB="38100" anchor="ctr">
                    <a:solidFill>
                      <a:srgbClr val="0A1A2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Europe (Outbound)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£6,119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46.89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£130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2.57×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44.4%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Best in account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DFD4"/>
                          </a:solidFill>
                          <a:latin typeface="Arial"/>
                        </a:rPr>
                        <a:t>London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£2,872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19.00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£151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1.83×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62.9%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Strong — throttled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5AEFF"/>
                          </a:solidFill>
                          <a:latin typeface="Arial"/>
                        </a:rPr>
                        <a:t>International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£1,391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8.00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£174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2.03×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36.5%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Efficient — small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9A9A9A"/>
                          </a:solidFill>
                          <a:latin typeface="Arial"/>
                        </a:rPr>
                        <a:t>Brand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£72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3.00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£24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5.63×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2.1%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9A9A9A"/>
                          </a:solidFill>
                          <a:latin typeface="Arial"/>
                        </a:rPr>
                        <a:t>Exceptional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515E"/>
                          </a:solidFill>
                          <a:latin typeface="Arial"/>
                        </a:rPr>
                        <a:t>Domestic</a:t>
                      </a:r>
                    </a:p>
                  </a:txBody>
                  <a:tcPr marL="76200" marR="76200" marT="25400" marB="25400" anchor="ctr">
                    <a:solidFill>
                      <a:srgbClr val="1A08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F515E"/>
                          </a:solidFill>
                          <a:latin typeface="Arial"/>
                        </a:rPr>
                        <a:t>£5,979</a:t>
                      </a:r>
                    </a:p>
                  </a:txBody>
                  <a:tcPr marL="76200" marR="76200" marT="25400" marB="25400" anchor="ctr">
                    <a:solidFill>
                      <a:srgbClr val="1A08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F515E"/>
                          </a:solidFill>
                          <a:latin typeface="Arial"/>
                        </a:rPr>
                        <a:t>20.00</a:t>
                      </a:r>
                    </a:p>
                  </a:txBody>
                  <a:tcPr marL="76200" marR="76200" marT="25400" marB="25400" anchor="ctr">
                    <a:solidFill>
                      <a:srgbClr val="1A08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F515E"/>
                          </a:solidFill>
                          <a:latin typeface="Arial"/>
                        </a:rPr>
                        <a:t>£299</a:t>
                      </a:r>
                    </a:p>
                  </a:txBody>
                  <a:tcPr marL="76200" marR="76200" marT="25400" marB="25400" anchor="ctr">
                    <a:solidFill>
                      <a:srgbClr val="1A08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F515E"/>
                          </a:solidFill>
                          <a:latin typeface="Arial"/>
                        </a:rPr>
                        <a:t>0.74×</a:t>
                      </a:r>
                    </a:p>
                  </a:txBody>
                  <a:tcPr marL="76200" marR="76200" marT="25400" marB="25400" anchor="ctr">
                    <a:solidFill>
                      <a:srgbClr val="1A08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F515E"/>
                          </a:solidFill>
                          <a:latin typeface="Arial"/>
                        </a:rPr>
                        <a:t>22.4%</a:t>
                      </a:r>
                    </a:p>
                  </a:txBody>
                  <a:tcPr marL="76200" marR="76200" marT="25400" marB="25400" anchor="ctr">
                    <a:solidFill>
                      <a:srgbClr val="1A080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F515E"/>
                          </a:solidFill>
                          <a:latin typeface="Arial"/>
                        </a:rPr>
                        <a:t>Requires attention</a:t>
                      </a:r>
                    </a:p>
                  </a:txBody>
                  <a:tcPr marL="76200" marR="76200" marT="25400" marB="25400" anchor="ctr">
                    <a:solidFill>
                      <a:srgbClr val="1A0808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BBF46"/>
                          </a:solidFill>
                          <a:latin typeface="Arial"/>
                        </a:rPr>
                        <a:t>Blended (Search)</a:t>
                      </a:r>
                    </a:p>
                  </a:txBody>
                  <a:tcPr marL="76200" marR="76200" marT="25400" marB="25400" anchor="ctr">
                    <a:solidFill>
                      <a:srgbClr val="1A15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BBF46"/>
                          </a:solidFill>
                          <a:latin typeface="Arial"/>
                        </a:rPr>
                        <a:t>£16,432</a:t>
                      </a:r>
                    </a:p>
                  </a:txBody>
                  <a:tcPr marL="76200" marR="76200" marT="25400" marB="25400" anchor="ctr">
                    <a:solidFill>
                      <a:srgbClr val="1A15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BBF46"/>
                          </a:solidFill>
                          <a:latin typeface="Arial"/>
                        </a:rPr>
                        <a:t>96.89</a:t>
                      </a:r>
                    </a:p>
                  </a:txBody>
                  <a:tcPr marL="76200" marR="76200" marT="25400" marB="25400" anchor="ctr">
                    <a:solidFill>
                      <a:srgbClr val="1A15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BBF46"/>
                          </a:solidFill>
                          <a:latin typeface="Arial"/>
                        </a:rPr>
                        <a:t>£170</a:t>
                      </a:r>
                    </a:p>
                  </a:txBody>
                  <a:tcPr marL="76200" marR="76200" marT="25400" marB="25400" anchor="ctr">
                    <a:solidFill>
                      <a:srgbClr val="1A15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BBF46"/>
                          </a:solidFill>
                          <a:latin typeface="Arial"/>
                        </a:rPr>
                        <a:t>1.74×</a:t>
                      </a:r>
                    </a:p>
                  </a:txBody>
                  <a:tcPr marL="76200" marR="76200" marT="25400" marB="25400" anchor="ctr">
                    <a:solidFill>
                      <a:srgbClr val="1A15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BBF4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6200" marR="76200" marT="25400" marB="25400" anchor="ctr">
                    <a:solidFill>
                      <a:srgbClr val="1A15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FBBF46"/>
                          </a:solidFill>
                          <a:latin typeface="Arial"/>
                        </a:rPr>
                        <a:t>Within target</a:t>
                      </a:r>
                    </a:p>
                  </a:txBody>
                  <a:tcPr marL="76200" marR="76200" marT="25400" marB="25400" anchor="ctr">
                    <a:solidFill>
                      <a:srgbClr val="1A150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9A9A9A"/>
                </a:solidFill>
                <a:latin typeface="Arial"/>
              </a:rPr>
              <a:t>MAY 2026 BREAKDOWN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120640"/>
            <a:ext cx="11460175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>
                <a:solidFill>
                  <a:srgbClr val="9A9A9A"/>
                </a:solidFill>
                <a:latin typeface="Arial"/>
              </a:rPr>
              <a:t>Europe £2,431 · 19 · £128      London £829 · 6 · £138      Domestic £1,196 · 6 · £199      International £912 · 5 · £182      Brand £49 · 1 · £49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11460175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Internal — not for external distribution  ·  HUDL Consultancy  ·  woody@hudl.gg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6200"/>
          </a:xfrm>
          <a:prstGeom prst="rect">
            <a:avLst/>
          </a:prstGeom>
          <a:solidFill>
            <a:srgbClr val="FB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6200"/>
          </a:xfrm>
          <a:prstGeom prst="rect">
            <a:avLst/>
          </a:prstGeom>
          <a:solidFill>
            <a:srgbClr val="45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6200"/>
          </a:xfrm>
          <a:prstGeom prst="rect">
            <a:avLst/>
          </a:prstGeom>
          <a:solidFill>
            <a:srgbClr val="FF5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6200"/>
          </a:xfrm>
          <a:prstGeom prst="rect">
            <a:avLst/>
          </a:prstGeom>
          <a:solidFill>
            <a:srgbClr val="1E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45720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FBBF46"/>
                </a:solidFill>
                <a:latin typeface="Arial Narrow"/>
              </a:rPr>
              <a:t>Q3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2495" y="411480"/>
            <a:ext cx="46634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200" b="0">
                <a:solidFill>
                  <a:srgbClr val="9A9A9A"/>
                </a:solidFill>
                <a:latin typeface="Arial"/>
              </a:rPr>
              <a:t>Total daily budget held at £200/day throughout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3759098" cy="1143000"/>
          </a:xfrm>
          <a:prstGeom prst="rect">
            <a:avLst/>
          </a:prstGeom>
          <a:solidFill>
            <a:srgbClr val="141416"/>
          </a:solidFill>
          <a:ln w="19050">
            <a:solidFill>
              <a:srgbClr val="1E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3484778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1EDFD4"/>
                </a:solidFill>
                <a:latin typeface="Arial Narrow"/>
              </a:rPr>
              <a:t>23 Jun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72768"/>
            <a:ext cx="3484778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Domestic clean-up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74519"/>
            <a:ext cx="3484778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9A9A9A"/>
                </a:solidFill>
                <a:latin typeface="Arial"/>
              </a:rPr>
              <a:t>Negatives + match-type tightening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6298" y="1051560"/>
            <a:ext cx="3759098" cy="1143000"/>
          </a:xfrm>
          <a:prstGeom prst="rect">
            <a:avLst/>
          </a:prstGeom>
          <a:solidFill>
            <a:srgbClr val="141416"/>
          </a:solidFill>
          <a:ln w="19050">
            <a:solidFill>
              <a:srgbClr val="FBB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3458" y="1170432"/>
            <a:ext cx="3484778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BBF46"/>
                </a:solidFill>
                <a:latin typeface="Arial Narrow"/>
              </a:rPr>
              <a:t>7 Jul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3458" y="1572768"/>
            <a:ext cx="3484778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Budget reallocation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3458" y="1874519"/>
            <a:ext cx="3484778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9A9A9A"/>
                </a:solidFill>
                <a:latin typeface="Arial"/>
              </a:rPr>
              <a:t>Europe ↑ · London ↑ · Domestic 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6836" y="1051560"/>
            <a:ext cx="3759098" cy="1143000"/>
          </a:xfrm>
          <a:prstGeom prst="rect">
            <a:avLst/>
          </a:prstGeom>
          <a:solidFill>
            <a:srgbClr val="141416"/>
          </a:solidFill>
          <a:ln w="19050">
            <a:solidFill>
              <a:srgbClr val="45A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3996" y="1170432"/>
            <a:ext cx="3484778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45AEFF"/>
                </a:solidFill>
                <a:latin typeface="Arial Narrow"/>
              </a:rPr>
              <a:t>14 Jul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1572768"/>
            <a:ext cx="3484778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Domestic tCPA 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1874519"/>
            <a:ext cx="3484778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9A9A9A"/>
                </a:solidFill>
                <a:latin typeface="Arial"/>
              </a:rPr>
              <a:t>After clean-up &amp; budgets settle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331720"/>
            <a:ext cx="11460175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Smart Bidding needs 2–4 weeks to recalibrate after each change — changes are staggered deliberately.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788920"/>
            <a:ext cx="3657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9A9A9A"/>
                </a:solidFill>
                <a:latin typeface="Arial"/>
              </a:rPr>
              <a:t>Q3 TARGETS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65760" y="3108960"/>
          <a:ext cx="5486399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280159"/>
                <a:gridCol w="1828800"/>
              </a:tblGrid>
              <a:tr h="49377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5AE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76200" marR="76200" marT="38100" marB="38100" anchor="ctr">
                    <a:solidFill>
                      <a:srgbClr val="0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5AEFF"/>
                          </a:solidFill>
                          <a:latin typeface="Arial"/>
                        </a:rPr>
                        <a:t>Current</a:t>
                      </a:r>
                    </a:p>
                  </a:txBody>
                  <a:tcPr marL="76200" marR="76200" marT="38100" marB="38100" anchor="ctr">
                    <a:solidFill>
                      <a:srgbClr val="0A1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5AEFF"/>
                          </a:solidFill>
                          <a:latin typeface="Arial"/>
                        </a:rPr>
                        <a:t>Q3 Target</a:t>
                      </a:r>
                    </a:p>
                  </a:txBody>
                  <a:tcPr marL="76200" marR="76200" marT="38100" marB="38100" anchor="ctr">
                    <a:solidFill>
                      <a:srgbClr val="0A1A2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Domestic CPA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515E"/>
                          </a:solidFill>
                          <a:latin typeface="Arial"/>
                        </a:rPr>
                        <a:t>£299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C55E"/>
                          </a:solidFill>
                          <a:latin typeface="Arial"/>
                        </a:rPr>
                        <a:t>£200–230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Blended CPA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A9A"/>
                          </a:solidFill>
                          <a:latin typeface="Arial"/>
                        </a:rPr>
                        <a:t>£165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DFD4"/>
                          </a:solidFill>
                          <a:latin typeface="Arial"/>
                        </a:rPr>
                        <a:t>≤ £170 (hold)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Europe lost IS budget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A9A"/>
                          </a:solidFill>
                          <a:latin typeface="Arial"/>
                        </a:rPr>
                        <a:t>44.4%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DFD4"/>
                          </a:solidFill>
                          <a:latin typeface="Arial"/>
                        </a:rPr>
                        <a:t>&lt; 20%</a:t>
                      </a:r>
                    </a:p>
                  </a:txBody>
                  <a:tcPr marL="76200" marR="76200" marT="25400" marB="25400" anchor="ctr">
                    <a:solidFill>
                      <a:srgbClr val="0F0F1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London lost IS budget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9A9A9A"/>
                          </a:solidFill>
                          <a:latin typeface="Arial"/>
                        </a:rPr>
                        <a:t>62.9%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DFD4"/>
                          </a:solidFill>
                          <a:latin typeface="Arial"/>
                        </a:rPr>
                        <a:t>&lt; 25%</a:t>
                      </a:r>
                    </a:p>
                  </a:txBody>
                  <a:tcPr marL="76200" marR="76200" marT="25400" marB="25400" anchor="ctr">
                    <a:solidFill>
                      <a:srgbClr val="0C0C0C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126480" y="2788920"/>
            <a:ext cx="5486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9A9A9A"/>
                </a:solidFill>
                <a:latin typeface="Arial"/>
              </a:rPr>
              <a:t>OUTSTANDING 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108960"/>
            <a:ext cx="5699455" cy="2468880"/>
          </a:xfrm>
          <a:prstGeom prst="rect">
            <a:avLst/>
          </a:prstGeom>
          <a:solidFill>
            <a:srgbClr val="0A1020"/>
          </a:solidFill>
          <a:ln w="19050">
            <a:solidFill>
              <a:srgbClr val="45A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246120"/>
            <a:ext cx="5333695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45AEFF"/>
                </a:solidFill>
                <a:latin typeface="Arial"/>
              </a:rPr>
              <a:t>Re-enable Moveware → Google Ads offline conversion import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794760"/>
            <a:ext cx="5333695" cy="1737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9A9A9A"/>
                </a:solidFill>
                <a:latin typeface="Arial"/>
              </a:rPr>
              <a:t>2025: 88 qualified leads imported → Smart Bidding optimised toward booked revenue</a:t>
            </a:r>
          </a:p>
          <a:p>
            <a:pPr algn="l"/>
            <a:r>
              <a:rPr sz="1100" b="0">
                <a:solidFill>
                  <a:srgbClr val="9A9A9A"/>
                </a:solidFill>
                <a:latin typeface="Arial"/>
              </a:rPr>
              <a:t>2026: 0 imported → algorithm optimises toward form fills only</a:t>
            </a:r>
          </a:p>
          <a:p>
            <a:pPr algn="l"/>
            <a:r>
              <a:rPr sz="1100" b="0">
                <a:solidFill>
                  <a:srgbClr val="9A9A9A"/>
                </a:solidFill>
                <a:latin typeface="Arial"/>
              </a:rPr>
              <a:t/>
            </a:r>
          </a:p>
          <a:p>
            <a:pPr algn="l"/>
            <a:r>
              <a:rPr sz="1100" b="0">
                <a:solidFill>
                  <a:srgbClr val="9A9A9A"/>
                </a:solidFill>
                <a:latin typeface="Arial"/>
              </a:rPr>
              <a:t>Action: Woody + JDR (upload schedule) + NetDesigner (GCLID capture)</a:t>
            </a:r>
          </a:p>
          <a:p>
            <a:pPr algn="l"/>
            <a:r>
              <a:rPr sz="1100" b="0">
                <a:solidFill>
                  <a:srgbClr val="9A9A9A"/>
                </a:solidFill>
                <a:latin typeface="Arial"/>
              </a:rPr>
              <a:t>Impact: bidding optimises toward revenue, not just enquiries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37960"/>
            <a:ext cx="11460175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Internal — not for external distribution  ·  HUDL Consultancy  ·  woody@hudl.gg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6200"/>
          </a:xfrm>
          <a:prstGeom prst="rect">
            <a:avLst/>
          </a:prstGeom>
          <a:solidFill>
            <a:srgbClr val="FBB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6200"/>
          </a:xfrm>
          <a:prstGeom prst="rect">
            <a:avLst/>
          </a:prstGeom>
          <a:solidFill>
            <a:srgbClr val="45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6200"/>
          </a:xfrm>
          <a:prstGeom prst="rect">
            <a:avLst/>
          </a:prstGeom>
          <a:solidFill>
            <a:srgbClr val="FF5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6200"/>
          </a:xfrm>
          <a:prstGeom prst="rect">
            <a:avLst/>
          </a:prstGeom>
          <a:solidFill>
            <a:srgbClr val="1E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5486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FBBF46"/>
                </a:solidFill>
                <a:latin typeface="Arial Narrow"/>
              </a:rPr>
              <a:t>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11460175" cy="86868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50800" cy="868680"/>
          </a:xfrm>
          <a:prstGeom prst="rect">
            <a:avLst/>
          </a:prstGeom>
          <a:solidFill>
            <a:srgbClr val="1ED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43000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Sign off Q3 brief &amp; ad copy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90472"/>
            <a:ext cx="7772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9A9A9A"/>
                </a:solidFill>
                <a:latin typeface="Arial"/>
              </a:rPr>
              <a:t>Europe, London, Domestic RSAs + landing pages ready — needed before 7 July go-live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2735" y="1298448"/>
            <a:ext cx="2743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1EDFD4"/>
                </a:solidFill>
                <a:latin typeface="Arial"/>
              </a:rPr>
              <a:t>Woody → sign off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75688"/>
            <a:ext cx="11460175" cy="86868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075688"/>
            <a:ext cx="50800" cy="868680"/>
          </a:xfrm>
          <a:prstGeom prst="rect">
            <a:avLst/>
          </a:prstGeom>
          <a:solidFill>
            <a:srgbClr val="FBB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167128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Domestic clean-up: 23 June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14600"/>
            <a:ext cx="7772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9A9A9A"/>
                </a:solidFill>
                <a:latin typeface="Arial"/>
              </a:rPr>
              <a:t>JDR implements 90 negatives + match-type changes in the Google Ads account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2735" y="2322576"/>
            <a:ext cx="2743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BBF46"/>
                </a:solidFill>
                <a:latin typeface="Arial"/>
              </a:rPr>
              <a:t>JDR Group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99816"/>
            <a:ext cx="11460175" cy="86868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099816"/>
            <a:ext cx="50800" cy="868680"/>
          </a:xfrm>
          <a:prstGeom prst="rect">
            <a:avLst/>
          </a:prstGeom>
          <a:solidFill>
            <a:srgbClr val="FBB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191256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Budget reallocation: 7 July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538728"/>
            <a:ext cx="7772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9A9A9A"/>
                </a:solidFill>
                <a:latin typeface="Arial"/>
              </a:rPr>
              <a:t>Europe &amp; London budgets up; Domestic down — total £200/day held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2735" y="3346704"/>
            <a:ext cx="2743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FBBF46"/>
                </a:solidFill>
                <a:latin typeface="Arial"/>
              </a:rPr>
              <a:t>JDR Group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23944"/>
            <a:ext cx="11460175" cy="86868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123944"/>
            <a:ext cx="50800" cy="868680"/>
          </a:xfrm>
          <a:prstGeom prst="rect">
            <a:avLst/>
          </a:prstGeom>
          <a:solidFill>
            <a:srgbClr val="45A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215384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Re-enable Moveware offline import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562856"/>
            <a:ext cx="7772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9A9A9A"/>
                </a:solidFill>
                <a:latin typeface="Arial"/>
              </a:rPr>
              <a:t>Upgrades Smart Bidding from form-fills to revenue optimisation (2025: 88 leads, £44k)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2735" y="4370832"/>
            <a:ext cx="2743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45AEFF"/>
                </a:solidFill>
                <a:latin typeface="Arial"/>
              </a:rPr>
              <a:t>Woody + JDR + NetDesigner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148072"/>
            <a:ext cx="11460175" cy="868680"/>
          </a:xfrm>
          <a:prstGeom prst="rect">
            <a:avLst/>
          </a:prstGeom>
          <a:solidFill>
            <a:srgbClr val="0F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148072"/>
            <a:ext cx="50800" cy="868680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239512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June 2026 board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586984"/>
            <a:ext cx="7772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9A9A9A"/>
                </a:solidFill>
                <a:latin typeface="Arial"/>
              </a:rPr>
              <a:t>First full month with reallocation active — expected CPL and lead-volume improvement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2735" y="5394960"/>
            <a:ext cx="2743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1">
                <a:solidFill>
                  <a:srgbClr val="9A9A9A"/>
                </a:solidFill>
                <a:latin typeface="Arial"/>
              </a:rPr>
              <a:t>HUDL (Pippa) — July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37960"/>
            <a:ext cx="11460175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Internal — not for external distribution  ·  HUDL Consultancy  ·  woody@hudl.gg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