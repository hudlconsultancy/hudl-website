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0C0C"/>
        </a:solidFill>
        <a:effectLst/>
      </p:bgPr>
    </p:bg>
    <p:spTree>
      <p:nvGrpSpPr>
        <p:cNvPr id="1" name=""/>
        <p:cNvGrpSpPr/>
        <p:nvPr/>
      </p:nvGrpSpPr>
      <p:grpSpPr/>
      <p:sp>
        <p:nvSpPr>
          <p:cNvPr id="2" name="Rectangle 1"/>
          <p:cNvSpPr/>
          <p:nvPr/>
        </p:nvSpPr>
        <p:spPr>
          <a:xfrm>
            <a:off x="0" y="0"/>
            <a:ext cx="3047923" cy="76200"/>
          </a:xfrm>
          <a:prstGeom prst="rect">
            <a:avLst/>
          </a:prstGeom>
          <a:solidFill>
            <a:srgbClr val="FBBF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923" y="0"/>
            <a:ext cx="3047923" cy="76200"/>
          </a:xfrm>
          <a:prstGeom prst="rect">
            <a:avLst/>
          </a:prstGeom>
          <a:solidFill>
            <a:srgbClr val="45A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3047923" cy="76200"/>
          </a:xfrm>
          <a:prstGeom prst="rect">
            <a:avLst/>
          </a:prstGeom>
          <a:solidFill>
            <a:srgbClr val="FF5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771" y="0"/>
            <a:ext cx="3047923" cy="76200"/>
          </a:xfrm>
          <a:prstGeom prst="rect">
            <a:avLst/>
          </a:prstGeom>
          <a:solidFill>
            <a:srgbClr val="1ED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868680"/>
            <a:ext cx="128016" cy="868680"/>
          </a:xfrm>
          <a:prstGeom prst="rect">
            <a:avLst/>
          </a:prstGeom>
          <a:solidFill>
            <a:srgbClr val="FBBF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841248"/>
            <a:ext cx="9144000" cy="320040"/>
          </a:xfrm>
          <a:prstGeom prst="rect">
            <a:avLst/>
          </a:prstGeom>
          <a:noFill/>
        </p:spPr>
        <p:txBody>
          <a:bodyPr wrap="square" anchor="t" lIns="25400" rIns="25400" tIns="25400" bIns="25400">
            <a:spAutoFit/>
          </a:bodyPr>
          <a:lstStyle/>
          <a:p>
            <a:pPr algn="l"/>
            <a:r>
              <a:rPr sz="1300" b="1">
                <a:solidFill>
                  <a:srgbClr val="FBBF46"/>
                </a:solidFill>
                <a:latin typeface="Arial"/>
              </a:rPr>
              <a:t>SETTING THE LANDSCAPE</a:t>
            </a:r>
          </a:p>
        </p:txBody>
      </p:sp>
      <p:sp>
        <p:nvSpPr>
          <p:cNvPr id="8" name="TextBox 7"/>
          <p:cNvSpPr txBox="1"/>
          <p:nvPr/>
        </p:nvSpPr>
        <p:spPr>
          <a:xfrm>
            <a:off x="896112" y="1115568"/>
            <a:ext cx="10607040" cy="868680"/>
          </a:xfrm>
          <a:prstGeom prst="rect">
            <a:avLst/>
          </a:prstGeom>
          <a:noFill/>
        </p:spPr>
        <p:txBody>
          <a:bodyPr wrap="square" anchor="t" lIns="25400" rIns="25400" tIns="25400" bIns="25400">
            <a:spAutoFit/>
          </a:bodyPr>
          <a:lstStyle/>
          <a:p>
            <a:pPr algn="l"/>
            <a:r>
              <a:rPr sz="4000" b="1">
                <a:solidFill>
                  <a:srgbClr val="FFFFFF"/>
                </a:solidFill>
                <a:latin typeface="Arial Narrow"/>
              </a:rPr>
              <a:t>Why Digital Marketing Matters</a:t>
            </a:r>
          </a:p>
        </p:txBody>
      </p:sp>
      <p:sp>
        <p:nvSpPr>
          <p:cNvPr id="9" name="Rectangle 8"/>
          <p:cNvSpPr/>
          <p:nvPr/>
        </p:nvSpPr>
        <p:spPr>
          <a:xfrm>
            <a:off x="640080" y="2331720"/>
            <a:ext cx="10927080" cy="2468880"/>
          </a:xfrm>
          <a:prstGeom prst="rect">
            <a:avLst/>
          </a:prstGeom>
          <a:solidFill>
            <a:srgbClr val="0F0F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331720"/>
            <a:ext cx="91440" cy="2468880"/>
          </a:xfrm>
          <a:prstGeom prst="rect">
            <a:avLst/>
          </a:prstGeom>
          <a:solidFill>
            <a:srgbClr val="45A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514600"/>
            <a:ext cx="10332720" cy="2103120"/>
          </a:xfrm>
          <a:prstGeom prst="rect">
            <a:avLst/>
          </a:prstGeom>
          <a:noFill/>
        </p:spPr>
        <p:txBody>
          <a:bodyPr wrap="square" anchor="ctr" lIns="25400" rIns="25400" tIns="25400" bIns="25400">
            <a:spAutoFit/>
          </a:bodyPr>
          <a:lstStyle/>
          <a:p>
            <a:pPr algn="l">
              <a:lnSpc>
                <a:spcPct val="125000"/>
              </a:lnSpc>
            </a:pPr>
            <a:r>
              <a:rPr sz="1800" b="0">
                <a:solidFill>
                  <a:srgbClr val="E6E6E6"/>
                </a:solidFill>
                <a:latin typeface="Arial"/>
              </a:rPr>
              <a:t>Moving home or abroad is a major, heavily-researched decision that now almost always starts online — so digital is where a premium brand like Abels is found, judged and shortlisted. Every pound spent there is fully accountable, tied directly to enquiries, quotes and booked jobs, which is something traditional advertising can never offer. And it is where the battle for high-value customers is won: it builds the top of the funnel the whole business depends on.</a:t>
            </a:r>
          </a:p>
        </p:txBody>
      </p:sp>
      <p:sp>
        <p:nvSpPr>
          <p:cNvPr id="12" name="Rectangle 11"/>
          <p:cNvSpPr/>
          <p:nvPr/>
        </p:nvSpPr>
        <p:spPr>
          <a:xfrm>
            <a:off x="640080" y="5074920"/>
            <a:ext cx="10927080" cy="868680"/>
          </a:xfrm>
          <a:prstGeom prst="rect">
            <a:avLst/>
          </a:prstGeom>
          <a:solidFill>
            <a:srgbClr val="0C0C0C"/>
          </a:solidFill>
          <a:ln w="15875">
            <a:solidFill>
              <a:srgbClr val="FBBF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074920"/>
            <a:ext cx="10607040" cy="868680"/>
          </a:xfrm>
          <a:prstGeom prst="rect">
            <a:avLst/>
          </a:prstGeom>
          <a:noFill/>
        </p:spPr>
        <p:txBody>
          <a:bodyPr wrap="square" anchor="ctr" lIns="25400" rIns="25400" tIns="25400" bIns="25400">
            <a:spAutoFit/>
          </a:bodyPr>
          <a:lstStyle/>
          <a:p>
            <a:pPr algn="ctr"/>
            <a:r>
              <a:rPr sz="1900" b="1">
                <a:solidFill>
                  <a:srgbClr val="FBBF46"/>
                </a:solidFill>
                <a:latin typeface="Arial Narrow"/>
              </a:rPr>
              <a:t>Visibility  →  Enquiries  →  Quotes  →  Booked jobs  →  Revenue</a:t>
            </a:r>
          </a:p>
        </p:txBody>
      </p:sp>
      <p:sp>
        <p:nvSpPr>
          <p:cNvPr id="14" name="TextBox 13"/>
          <p:cNvSpPr txBox="1"/>
          <p:nvPr/>
        </p:nvSpPr>
        <p:spPr>
          <a:xfrm>
            <a:off x="640080" y="6437376"/>
            <a:ext cx="10972800" cy="292608"/>
          </a:xfrm>
          <a:prstGeom prst="rect">
            <a:avLst/>
          </a:prstGeom>
          <a:noFill/>
        </p:spPr>
        <p:txBody>
          <a:bodyPr wrap="square" anchor="t" lIns="25400" rIns="25400" tIns="25400" bIns="25400">
            <a:spAutoFit/>
          </a:bodyPr>
          <a:lstStyle/>
          <a:p>
            <a:pPr algn="l"/>
            <a:r>
              <a:rPr sz="900" b="0">
                <a:solidFill>
                  <a:srgbClr val="9A9A9A"/>
                </a:solidFill>
                <a:latin typeface="Arial"/>
              </a:rPr>
              <a:t>Abels Moving Services  ·  Board Performance Review  ·  June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